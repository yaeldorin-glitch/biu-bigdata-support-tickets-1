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203F"/>
                </a:solidFill>
                <a:latin typeface="Calibri"/>
              </a:defRPr>
            </a:pPr>
            <a:r>
              <a:rPr sz="1300" b="0" i="0" u="none" strike="noStrike">
                <a:solidFill>
                  <a:srgbClr val="16203F"/>
                </a:solidFill>
                <a:latin typeface="Calibri"/>
              </a:rPr>
              <a:t>Accuracy (%)</a:t>
            </a:r>
          </a:p>
        </c:rich>
      </c:tx>
      <c:layout/>
      <c:overlay val="0"/>
    </c:title>
    <c:autoTitleDeleted val="0"/>
    <c:plotArea>
      <c:layout/>
      <c:barChart>
        <c:barDir val="col"/>
        <c:grouping val="clustered"/>
        <c:varyColors val="0"/>
        <c:ser>
          <c:idx val="0"/>
          <c:order val="0"/>
          <c:tx>
            <c:strRef>
              <c:f>Sheet1!$B$1</c:f>
              <c:strCache>
                <c:ptCount val="1"/>
                <c:pt idx="0">
                  <c:v>Accuracy</c:v>
                </c:pt>
              </c:strCache>
            </c:strRef>
          </c:tx>
          <c:spPr>
            <a:solidFill>
              <a:srgbClr val="5A6485"/>
            </a:solidFill>
            <a:effectLst/>
          </c:spPr>
          <c:invertIfNegative val="0"/>
          <c:dLbls>
            <c:numFmt formatCode="0.0&quot;%&quot;" sourceLinked="0"/>
            <c:txPr>
              <a:bodyPr/>
              <a:lstStyle/>
              <a:p>
                <a:pPr>
                  <a:defRPr b="0" i="0" strike="noStrike" sz="1200" u="none">
                    <a:solidFill>
                      <a:srgbClr val="16203F"/>
                    </a:solidFill>
                    <a:latin typeface="Calibri"/>
                  </a:defRPr>
                </a:pPr>
              </a:p>
            </c:txPr>
            <c:showLegendKey val="0"/>
            <c:showVal val="1"/>
            <c:showCatName val="0"/>
            <c:showSerName val="0"/>
            <c:showPercent val="0"/>
            <c:showBubbleSize val="0"/>
            <c:showLeaderLines val="0"/>
          </c:dLbls>
          <c:dPt>
            <c:idx val="0"/>
            <c:invertIfNegative val="0"/>
            <c:bubble3D val="0"/>
            <c:spPr>
              <a:solidFill>
                <a:srgbClr val="5A6485"/>
              </a:solidFill>
              <a:effectLst/>
            </c:spPr>
          </c:dPt>
          <c:dPt>
            <c:idx val="1"/>
            <c:invertIfNegative val="0"/>
            <c:bubble3D val="0"/>
            <c:spPr>
              <a:solidFill>
                <a:srgbClr val="5A6485"/>
              </a:solidFill>
              <a:effectLst/>
            </c:spPr>
          </c:dPt>
          <c:dPt>
            <c:idx val="2"/>
            <c:invertIfNegative val="0"/>
            <c:bubble3D val="0"/>
            <c:spPr>
              <a:solidFill>
                <a:srgbClr val="5A6485"/>
              </a:solidFill>
              <a:effectLst/>
            </c:spPr>
          </c:dPt>
          <c:dPt>
            <c:idx val="3"/>
            <c:invertIfNegative val="0"/>
            <c:bubble3D val="0"/>
            <c:spPr>
              <a:solidFill>
                <a:srgbClr val="5A6485"/>
              </a:solidFill>
              <a:effectLst/>
            </c:spPr>
          </c:dPt>
          <c:dPt>
            <c:idx val="4"/>
            <c:invertIfNegative val="0"/>
            <c:bubble3D val="0"/>
            <c:spPr>
              <a:solidFill>
                <a:srgbClr val="2A9D8F"/>
              </a:solidFill>
              <a:effectLst/>
            </c:spPr>
          </c:dPt>
          <c:cat>
            <c:multiLvlStrRef>
              <c:f>Sheet1!$A$2:$A$6</c:f>
              <c:multiLvlStrCache>
                <c:ptCount val="5"/>
                <c:lvl>
                  <c:pt idx="0">
                    <c:v>Always guess
majority class</c:v>
                  </c:pt>
                  <c:pt idx="1">
                    <c:v>Keyword rules</c:v>
                  </c:pt>
                  <c:pt idx="2">
                    <c:v>Embedding
centroid</c:v>
                  </c:pt>
                  <c:pt idx="3">
                    <c:v>Embedding k-NN
(k=5)</c:v>
                  </c:pt>
                  <c:pt idx="4">
                    <c:v>Linear SVM
word+char TF-IDF</c:v>
                  </c:pt>
                </c:lvl>
              </c:multiLvlStrCache>
            </c:multiLvlStrRef>
          </c:cat>
          <c:val>
            <c:numRef>
              <c:f>Sheet1!$B$2:$B$6</c:f>
              <c:numCache>
                <c:formatCode>General</c:formatCode>
                <c:ptCount val="5"/>
                <c:pt idx="0">
                  <c:v>29.3</c:v>
                </c:pt>
                <c:pt idx="1">
                  <c:v>27.4</c:v>
                </c:pt>
                <c:pt idx="2">
                  <c:v>28.4</c:v>
                </c:pt>
                <c:pt idx="3">
                  <c:v>58.4</c:v>
                </c:pt>
                <c:pt idx="4">
                  <c:v>64.8</c:v>
                </c:pt>
              </c:numCache>
            </c:numRef>
          </c:val>
        </c:ser>
        <c:dLbls>
          <c:numFmt formatCode="0.0&quot;%&quot;" sourceLinked="0"/>
          <c:txPr>
            <a:bodyPr/>
            <a:lstStyle/>
            <a:p>
              <a:pPr>
                <a:defRPr b="0" i="0" strike="noStrike" sz="12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60"/>
        </c:scaling>
        <c:delete val="0"/>
        <c:axPos val="l"/>
        <c:majorGridlines>
          <c:spPr>
            <a:ln w="12700" cap="flat">
              <a:solidFill>
                <a:srgbClr val="E4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8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precision@5</c:v>
                </c:pt>
              </c:strCache>
            </c:strRef>
          </c:tx>
          <c:spPr>
            <a:solidFill>
              <a:srgbClr val="2A9D8F"/>
            </a:solidFill>
            <a:effectLst/>
          </c:spPr>
          <c:invertIfNegative val="0"/>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Semantic</c:v>
                  </c:pt>
                  <c:pt idx="1">
                    <c:v>Keyword (BM25)</c:v>
                  </c:pt>
                  <c:pt idx="2">
                    <c:v>Hybrid (RRF)</c:v>
                  </c:pt>
                </c:lvl>
              </c:multiLvlStrCache>
            </c:multiLvlStrRef>
          </c:cat>
          <c:val>
            <c:numRef>
              <c:f>Sheet1!$B$2:$B$4</c:f>
              <c:numCache>
                <c:formatCode>General</c:formatCode>
                <c:ptCount val="3"/>
                <c:pt idx="0">
                  <c:v>0.713</c:v>
                </c:pt>
                <c:pt idx="1">
                  <c:v>0.728</c:v>
                </c:pt>
                <c:pt idx="2">
                  <c:v>0.745</c:v>
                </c:pt>
              </c:numCache>
            </c:numRef>
          </c:val>
        </c:ser>
        <c:ser>
          <c:idx val="1"/>
          <c:order val="1"/>
          <c:tx>
            <c:strRef>
              <c:f>Sheet1!$C$1</c:f>
              <c:strCache>
                <c:ptCount val="1"/>
                <c:pt idx="0">
                  <c:v>MRR</c:v>
                </c:pt>
              </c:strCache>
            </c:strRef>
          </c:tx>
          <c:spPr>
            <a:solidFill>
              <a:srgbClr val="1E2761"/>
            </a:solidFill>
            <a:effectLst/>
          </c:spPr>
          <c:invertIfNegative val="0"/>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Semantic</c:v>
                  </c:pt>
                  <c:pt idx="1">
                    <c:v>Keyword (BM25)</c:v>
                  </c:pt>
                  <c:pt idx="2">
                    <c:v>Hybrid (RRF)</c:v>
                  </c:pt>
                </c:lvl>
              </c:multiLvlStrCache>
            </c:multiLvlStrRef>
          </c:cat>
          <c:val>
            <c:numRef>
              <c:f>Sheet1!$C$2:$C$4</c:f>
              <c:numCache>
                <c:formatCode>General</c:formatCode>
                <c:ptCount val="3"/>
                <c:pt idx="0">
                  <c:v>0.823</c:v>
                </c:pt>
                <c:pt idx="1">
                  <c:v>0.859</c:v>
                </c:pt>
                <c:pt idx="2">
                  <c:v>0.844</c:v>
                </c:pt>
              </c:numCache>
            </c:numRef>
          </c:val>
        </c:ser>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4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85"/>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6203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03F"/>
                </a:solidFill>
                <a:latin typeface="Calibri"/>
              </a:defRPr>
            </a:pPr>
            <a:r>
              <a:rPr sz="1200" b="0" i="0" u="none" strike="noStrike">
                <a:solidFill>
                  <a:srgbClr val="16203F"/>
                </a:solidFill>
                <a:latin typeface="Calibri"/>
              </a:rPr>
              <a:t>High-priority share by queue (%)</a:t>
            </a:r>
          </a:p>
        </c:rich>
      </c:tx>
      <c:layout/>
      <c:overlay val="0"/>
    </c:title>
    <c:autoTitleDeleted val="0"/>
    <c:plotArea>
      <c:layout/>
      <c:barChart>
        <c:barDir val="bar"/>
        <c:grouping val="clustered"/>
        <c:varyColors val="0"/>
        <c:ser>
          <c:idx val="0"/>
          <c:order val="0"/>
          <c:tx>
            <c:strRef>
              <c:f>Sheet1!$B$1</c:f>
              <c:strCache>
                <c:ptCount val="1"/>
                <c:pt idx="0">
                  <c:v>High-priority share</c:v>
                </c:pt>
              </c:strCache>
            </c:strRef>
          </c:tx>
          <c:spPr>
            <a:solidFill>
              <a:srgbClr val="1E2761"/>
            </a:solidFill>
            <a:effectLst/>
          </c:spPr>
          <c:invertIfNegative val="0"/>
          <c:dLbls>
            <c:numFmt formatCode="0.0&quot;%&quot;"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Sheet1!$A$2:$A$7</c:f>
              <c:multiLvlStrCache>
                <c:ptCount val="6"/>
                <c:lvl>
                  <c:pt idx="0">
                    <c:v>Service Outages</c:v>
                  </c:pt>
                  <c:pt idx="1">
                    <c:v>Technical Support</c:v>
                  </c:pt>
                  <c:pt idx="2">
                    <c:v>IT Support</c:v>
                  </c:pt>
                  <c:pt idx="3">
                    <c:v>Billing</c:v>
                  </c:pt>
                  <c:pt idx="4">
                    <c:v>Product Support</c:v>
                  </c:pt>
                  <c:pt idx="5">
                    <c:v>Returns and Exchanges</c:v>
                  </c:pt>
                </c:lvl>
              </c:multiLvlStrCache>
            </c:multiLvlStrRef>
          </c:cat>
          <c:val>
            <c:numRef>
              <c:f>Sheet1!$B$2:$B$7</c:f>
              <c:numCache>
                <c:formatCode>General</c:formatCode>
                <c:ptCount val="6"/>
                <c:pt idx="0">
                  <c:v>71</c:v>
                </c:pt>
                <c:pt idx="1">
                  <c:v>58.6</c:v>
                </c:pt>
                <c:pt idx="2">
                  <c:v>48.8</c:v>
                </c:pt>
                <c:pt idx="3">
                  <c:v>30.6</c:v>
                </c:pt>
                <c:pt idx="4">
                  <c:v>29.6</c:v>
                </c:pt>
                <c:pt idx="5">
                  <c:v>21.4</c:v>
                </c:pt>
              </c:numCache>
            </c:numRef>
          </c:val>
        </c:ser>
        <c:dLbls>
          <c:numFmt formatCode="0.0&quot;%&quot;"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80"/>
        </c:scaling>
        <c:delete val="0"/>
        <c:axPos val="b"/>
        <c:majorGridlines>
          <c:spPr>
            <a:ln w="12700" cap="flat">
              <a:solidFill>
                <a:srgbClr val="E4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48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operational question: given only the free text of an incoming ticket, which support queue should it go to, and what similar tickets have we already solved? Both are text-understanding problems, which is why they resist the SQL-shaped tooling that handles the rest of a support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says clean tabular data alone is not sufficient. This dataset qualifies twice over: three free-text fields, and a genuinely ragged tag structure that has to be normalised into an array before anything can use it. Note the 29.3% majority class — it is the baseline every result on the next slides is measured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Medallion layout: bronze is raw and never rewritten, so when enrichment logic changes — and it changed four times while building this — we replay from bronze rather than from Kafka, whose retention is finite. Be ready for the question 'why not exactly-once': Spark's exactly-once needs a transactional sink; we get the same end state more cheaply by making the sinks idempotent.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about two backends is robustness: with LLM_PROVIDER=none and no model weights the pipeline still produces every number in this deck. That is deliberate — the demo cannot be broken by a failed download. On guardrails: asking a model to cite only what it was given is a prompt, not a guarantee, so we post-check every citation and strip the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The k-NN classifier trains nothing — it reuses the embeddings that already exist for semantic search, which is the cheapest possible route from 'we have vectors' to 'we have business value'. If asked why macro-F1 is so much lower than accuracy: the queue distribution is heavily skewed, from 29% Technical Support down to 1.4% General Inquiry, and macro-F1 weights every class equally.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this slide. It is the one that shows understanding rather than just a working system. The honest position is: our design predicted semantic would win, it did not under the backend we could actually run, and we can explain exactly why. Reproducing the neural comparison is one environment variable — EMBEDDING_BACKEND=sentence-transformers — and one pipeline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language finding is the one to lead with in questions. An 11.7% overall mismatch sounds like uniform noise; splitting it by declared language shows it is almost entirely on the German side, which points at a specific upstream defect rather than detector error. Anything keyed off that field — canned replies, language-based routing — is misfiring on those rows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what was not executed is worth more marks than pretending otherwise, and it is the honest answer if an examiner asks 'did you actually run this end to end on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the demo with /compare — it makes the difference between lexical and semantic matching visible on one screen, which no amount of describing it does. Keep the offline runner ready as the fallback if a container misbehaves; it produces the same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874520"/>
            <a:ext cx="105156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Ticket Intelligence</a:t>
            </a:r>
            <a:endParaRPr lang="en-US" sz="5400" dirty="0"/>
          </a:p>
        </p:txBody>
      </p:sp>
      <p:sp>
        <p:nvSpPr>
          <p:cNvPr id="3" name="Text 1"/>
          <p:cNvSpPr/>
          <p:nvPr/>
        </p:nvSpPr>
        <p:spPr>
          <a:xfrm>
            <a:off x="822960" y="2788920"/>
            <a:ext cx="10515600" cy="4572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Streaming ELT and semantic search over 28,587 support tickets</a:t>
            </a:r>
            <a:endParaRPr lang="en-US" sz="2000" dirty="0"/>
          </a:p>
        </p:txBody>
      </p:sp>
      <p:sp>
        <p:nvSpPr>
          <p:cNvPr id="4" name="Shape 2"/>
          <p:cNvSpPr/>
          <p:nvPr/>
        </p:nvSpPr>
        <p:spPr>
          <a:xfrm>
            <a:off x="822960" y="3657600"/>
            <a:ext cx="4754880" cy="45720"/>
          </a:xfrm>
          <a:prstGeom prst="roundRect">
            <a:avLst/>
          </a:prstGeom>
          <a:solidFill>
            <a:srgbClr val="E8A33D"/>
          </a:solidFill>
          <a:ln w="12700">
            <a:solidFill>
              <a:srgbClr val="E8A33D"/>
            </a:solidFill>
            <a:prstDash val="solid"/>
          </a:ln>
        </p:spPr>
      </p:sp>
      <p:sp>
        <p:nvSpPr>
          <p:cNvPr id="5" name="Text 3"/>
          <p:cNvSpPr/>
          <p:nvPr/>
        </p:nvSpPr>
        <p:spPr>
          <a:xfrm>
            <a:off x="822960" y="3931920"/>
            <a:ext cx="10515600" cy="822960"/>
          </a:xfrm>
          <a:prstGeom prst="rect">
            <a:avLst/>
          </a:prstGeom>
          <a:noFill/>
          <a:ln/>
        </p:spPr>
        <p:txBody>
          <a:bodyPr wrap="square" lIns="0" tIns="0" rIns="0" bIns="0" rtlCol="0" anchor="ctr"/>
          <a:lstStyle/>
          <a:p>
            <a:pPr indent="0" marL="0">
              <a:lnSpc>
                <a:spcPts val="2200"/>
              </a:lnSpc>
              <a:buNone/>
            </a:pPr>
            <a:r>
              <a:rPr lang="en-US" sz="1400" dirty="0">
                <a:solidFill>
                  <a:srgbClr val="CADCFC"/>
                </a:solidFill>
                <a:latin typeface="Calibri" pitchFamily="34" charset="0"/>
                <a:ea typeface="Calibri" pitchFamily="34" charset="-122"/>
                <a:cs typeface="Calibri" pitchFamily="34" charset="-120"/>
              </a:rPr>
              <a:t>Kafka  ·  Spark Structured Streaming  ·  MinIO  ·  Elasticsearch</a:t>
            </a:r>
            <a:endParaRPr lang="en-US" sz="1400" dirty="0"/>
          </a:p>
          <a:p>
            <a:pPr indent="0" marL="0">
              <a:lnSpc>
                <a:spcPts val="2200"/>
              </a:lnSpc>
              <a:buNone/>
            </a:pPr>
            <a:r>
              <a:rPr lang="en-US" sz="1400" dirty="0">
                <a:solidFill>
                  <a:srgbClr val="CADCFC"/>
                </a:solidFill>
                <a:latin typeface="Calibri" pitchFamily="34" charset="0"/>
                <a:ea typeface="Calibri" pitchFamily="34" charset="-122"/>
                <a:cs typeface="Calibri" pitchFamily="34" charset="-120"/>
              </a:rPr>
              <a:t>AI capability: embeddings + semantic search, RAG, k-NN routing</a:t>
            </a:r>
            <a:endParaRPr lang="en-US" sz="1400" dirty="0"/>
          </a:p>
        </p:txBody>
      </p:sp>
      <p:sp>
        <p:nvSpPr>
          <p:cNvPr id="6" name="Text 4"/>
          <p:cNvSpPr/>
          <p:nvPr/>
        </p:nvSpPr>
        <p:spPr>
          <a:xfrm>
            <a:off x="822960" y="5852160"/>
            <a:ext cx="10515600" cy="365760"/>
          </a:xfrm>
          <a:prstGeom prst="rect">
            <a:avLst/>
          </a:prstGeom>
          <a:noFill/>
          <a:ln/>
        </p:spPr>
        <p:txBody>
          <a:bodyPr wrap="square" lIns="0" tIns="0" rIns="0" bIns="0" rtlCol="0" anchor="ctr"/>
          <a:lstStyle/>
          <a:p>
            <a:pPr indent="0" marL="0">
              <a:buNone/>
            </a:pPr>
            <a:r>
              <a:rPr lang="en-US" sz="1200" dirty="0">
                <a:solidFill>
                  <a:srgbClr val="5A6485"/>
                </a:solidFill>
                <a:latin typeface="Calibri" pitchFamily="34" charset="0"/>
                <a:ea typeface="Calibri" pitchFamily="34" charset="-122"/>
                <a:cs typeface="Calibri" pitchFamily="34" charset="-120"/>
              </a:rPr>
              <a:t>BIU 8688697201 — Big Data and AI  |  Yael Dorin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problem, and why this dataset</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Customer IT Support Ticket Dataset — Tobias Bueck, CC BY-NC 4.0</a:t>
            </a:r>
            <a:endParaRPr lang="en-US" sz="1400" dirty="0"/>
          </a:p>
        </p:txBody>
      </p:sp>
      <p:sp>
        <p:nvSpPr>
          <p:cNvPr id="4" name="Text 2"/>
          <p:cNvSpPr/>
          <p:nvPr/>
        </p:nvSpPr>
        <p:spPr>
          <a:xfrm>
            <a:off x="548640" y="1691640"/>
            <a:ext cx="6583680" cy="4023360"/>
          </a:xfrm>
          <a:prstGeom prst="rect">
            <a:avLst/>
          </a:prstGeom>
          <a:noFill/>
          <a:ln/>
        </p:spPr>
        <p:txBody>
          <a:bodyPr wrap="square" lIns="0" tIns="0" rIns="0" bIns="0" rtlCol="0" anchor="ctr"/>
          <a:lstStyle/>
          <a:p>
            <a:pPr indent="0" marL="0">
              <a:spcAft>
                <a:spcPts val="700"/>
              </a:spcAft>
              <a:buNone/>
            </a:pPr>
            <a:r>
              <a:rPr lang="en-US" sz="1500" b="1" dirty="0">
                <a:solidFill>
                  <a:srgbClr val="16203F"/>
                </a:solidFill>
                <a:latin typeface="Calibri" pitchFamily="34" charset="0"/>
                <a:ea typeface="Calibri" pitchFamily="34" charset="-122"/>
                <a:cs typeface="Calibri" pitchFamily="34" charset="-120"/>
              </a:rPr>
              <a:t>Two costs in every support organisation</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Someone must route each free-text ticket to the right queue.</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Agents re-solve problems the organisation already solved.</a:t>
            </a:r>
            <a:endParaRPr lang="en-US" sz="1300" dirty="0"/>
          </a:p>
          <a:p>
            <a:pPr indent="0" marL="0">
              <a:spcAft>
                <a:spcPts val="700"/>
              </a:spcAft>
              <a:buNone/>
            </a:pPr>
            <a:r>
              <a:rPr lang="en-US" sz="1300" dirty="0">
                <a:solidFill>
                  <a:srgbClr val="16203F"/>
                </a:solidFill>
                <a:latin typeface="Calibri" pitchFamily="34" charset="0"/>
                <a:ea typeface="Calibri" pitchFamily="34" charset="-122"/>
                <a:cs typeface="Calibri" pitchFamily="34" charset="-120"/>
              </a:rPr>
              <a:t> </a:t>
            </a:r>
            <a:endParaRPr lang="en-US" sz="1300" dirty="0"/>
          </a:p>
          <a:p>
            <a:pPr indent="0" marL="0">
              <a:spcAft>
                <a:spcPts val="700"/>
              </a:spcAft>
              <a:buNone/>
            </a:pPr>
            <a:r>
              <a:rPr lang="en-US" sz="1500" b="1" dirty="0">
                <a:solidFill>
                  <a:srgbClr val="16203F"/>
                </a:solidFill>
                <a:latin typeface="Calibri" pitchFamily="34" charset="0"/>
                <a:ea typeface="Calibri" pitchFamily="34" charset="-122"/>
                <a:cs typeface="Calibri" pitchFamily="34" charset="-120"/>
              </a:rPr>
              <a:t>Why it qualifies as semi-structured</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subject / body / answer are natural language, averaging 387 characters.</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tag_1…tag_8 is a ragged list of 1,255 values flattened into sparse columns — 98% null by tag_8.</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subject itself is null in 13.4% of rows. That is data, not an error.</a:t>
            </a:r>
            <a:endParaRPr lang="en-US" sz="1300" dirty="0"/>
          </a:p>
        </p:txBody>
      </p:sp>
      <p:sp>
        <p:nvSpPr>
          <p:cNvPr id="5" name="Shape 3"/>
          <p:cNvSpPr/>
          <p:nvPr/>
        </p:nvSpPr>
        <p:spPr>
          <a:xfrm>
            <a:off x="7498080" y="1691640"/>
            <a:ext cx="2103120" cy="1417320"/>
          </a:xfrm>
          <a:prstGeom prst="roundRect">
            <a:avLst>
              <a:gd name="adj" fmla="val 5161"/>
            </a:avLst>
          </a:prstGeom>
          <a:solidFill>
            <a:srgbClr val="F4F6FB"/>
          </a:solidFill>
          <a:ln w="12700">
            <a:solidFill>
              <a:srgbClr val="F4F6FB"/>
            </a:solidFill>
            <a:prstDash val="solid"/>
          </a:ln>
        </p:spPr>
      </p:sp>
      <p:sp>
        <p:nvSpPr>
          <p:cNvPr id="6" name="Text 4"/>
          <p:cNvSpPr/>
          <p:nvPr/>
        </p:nvSpPr>
        <p:spPr>
          <a:xfrm>
            <a:off x="7635240" y="1837944"/>
            <a:ext cx="182880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28,587</a:t>
            </a:r>
            <a:endParaRPr lang="en-US" sz="4000" dirty="0"/>
          </a:p>
        </p:txBody>
      </p:sp>
      <p:sp>
        <p:nvSpPr>
          <p:cNvPr id="7" name="Text 5"/>
          <p:cNvSpPr/>
          <p:nvPr/>
        </p:nvSpPr>
        <p:spPr>
          <a:xfrm>
            <a:off x="7635240" y="2606040"/>
            <a:ext cx="18288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tickets</a:t>
            </a:r>
            <a:endParaRPr lang="en-US" sz="1250" dirty="0"/>
          </a:p>
        </p:txBody>
      </p:sp>
      <p:sp>
        <p:nvSpPr>
          <p:cNvPr id="8" name="Text 6"/>
          <p:cNvSpPr/>
          <p:nvPr/>
        </p:nvSpPr>
        <p:spPr>
          <a:xfrm>
            <a:off x="7635240" y="2880360"/>
            <a:ext cx="18288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en 57% / de 43%</a:t>
            </a:r>
            <a:endParaRPr lang="en-US" sz="1050" dirty="0"/>
          </a:p>
        </p:txBody>
      </p:sp>
      <p:sp>
        <p:nvSpPr>
          <p:cNvPr id="9" name="Shape 7"/>
          <p:cNvSpPr/>
          <p:nvPr/>
        </p:nvSpPr>
        <p:spPr>
          <a:xfrm>
            <a:off x="9784080" y="1691640"/>
            <a:ext cx="1828800" cy="1417320"/>
          </a:xfrm>
          <a:prstGeom prst="roundRect">
            <a:avLst>
              <a:gd name="adj" fmla="val 5161"/>
            </a:avLst>
          </a:prstGeom>
          <a:solidFill>
            <a:srgbClr val="F4F6FB"/>
          </a:solidFill>
          <a:ln w="12700">
            <a:solidFill>
              <a:srgbClr val="F4F6FB"/>
            </a:solidFill>
            <a:prstDash val="solid"/>
          </a:ln>
        </p:spPr>
      </p:sp>
      <p:sp>
        <p:nvSpPr>
          <p:cNvPr id="10" name="Text 8"/>
          <p:cNvSpPr/>
          <p:nvPr/>
        </p:nvSpPr>
        <p:spPr>
          <a:xfrm>
            <a:off x="9921240" y="1837944"/>
            <a:ext cx="155448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10</a:t>
            </a:r>
            <a:endParaRPr lang="en-US" sz="4000" dirty="0"/>
          </a:p>
        </p:txBody>
      </p:sp>
      <p:sp>
        <p:nvSpPr>
          <p:cNvPr id="11" name="Text 9"/>
          <p:cNvSpPr/>
          <p:nvPr/>
        </p:nvSpPr>
        <p:spPr>
          <a:xfrm>
            <a:off x="9921240" y="2606040"/>
            <a:ext cx="155448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queues</a:t>
            </a:r>
            <a:endParaRPr lang="en-US" sz="1250" dirty="0"/>
          </a:p>
        </p:txBody>
      </p:sp>
      <p:sp>
        <p:nvSpPr>
          <p:cNvPr id="12" name="Text 10"/>
          <p:cNvSpPr/>
          <p:nvPr/>
        </p:nvSpPr>
        <p:spPr>
          <a:xfrm>
            <a:off x="9921240" y="2880360"/>
            <a:ext cx="155448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the routing label</a:t>
            </a:r>
            <a:endParaRPr lang="en-US" sz="1050" dirty="0"/>
          </a:p>
        </p:txBody>
      </p:sp>
      <p:sp>
        <p:nvSpPr>
          <p:cNvPr id="13" name="Shape 11"/>
          <p:cNvSpPr/>
          <p:nvPr/>
        </p:nvSpPr>
        <p:spPr>
          <a:xfrm>
            <a:off x="7498080" y="3291840"/>
            <a:ext cx="2103120" cy="1417320"/>
          </a:xfrm>
          <a:prstGeom prst="roundRect">
            <a:avLst>
              <a:gd name="adj" fmla="val 5161"/>
            </a:avLst>
          </a:prstGeom>
          <a:solidFill>
            <a:srgbClr val="F4F6FB"/>
          </a:solidFill>
          <a:ln w="12700">
            <a:solidFill>
              <a:srgbClr val="F4F6FB"/>
            </a:solidFill>
            <a:prstDash val="solid"/>
          </a:ln>
        </p:spPr>
      </p:sp>
      <p:sp>
        <p:nvSpPr>
          <p:cNvPr id="14" name="Text 12"/>
          <p:cNvSpPr/>
          <p:nvPr/>
        </p:nvSpPr>
        <p:spPr>
          <a:xfrm>
            <a:off x="7635240" y="3438144"/>
            <a:ext cx="182880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4</a:t>
            </a:r>
            <a:endParaRPr lang="en-US" sz="4000" dirty="0"/>
          </a:p>
        </p:txBody>
      </p:sp>
      <p:sp>
        <p:nvSpPr>
          <p:cNvPr id="15" name="Text 13"/>
          <p:cNvSpPr/>
          <p:nvPr/>
        </p:nvSpPr>
        <p:spPr>
          <a:xfrm>
            <a:off x="7635240" y="4206240"/>
            <a:ext cx="18288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ticket types</a:t>
            </a:r>
            <a:endParaRPr lang="en-US" sz="1250" dirty="0"/>
          </a:p>
        </p:txBody>
      </p:sp>
      <p:sp>
        <p:nvSpPr>
          <p:cNvPr id="16" name="Text 14"/>
          <p:cNvSpPr/>
          <p:nvPr/>
        </p:nvSpPr>
        <p:spPr>
          <a:xfrm>
            <a:off x="7635240" y="4480560"/>
            <a:ext cx="18288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Incident · Request</a:t>
            </a:r>
            <a:endParaRPr lang="en-US" sz="1050" dirty="0"/>
          </a:p>
          <a:p>
            <a:pPr algn="ctr" indent="0" marL="0">
              <a:buNone/>
            </a:pPr>
            <a:r>
              <a:rPr lang="en-US" sz="1050" dirty="0">
                <a:solidFill>
                  <a:srgbClr val="5A6485"/>
                </a:solidFill>
                <a:latin typeface="Calibri" pitchFamily="34" charset="0"/>
                <a:ea typeface="Calibri" pitchFamily="34" charset="-122"/>
                <a:cs typeface="Calibri" pitchFamily="34" charset="-120"/>
              </a:rPr>
              <a:t>Problem · Change</a:t>
            </a:r>
            <a:endParaRPr lang="en-US" sz="1050" dirty="0"/>
          </a:p>
        </p:txBody>
      </p:sp>
      <p:sp>
        <p:nvSpPr>
          <p:cNvPr id="17" name="Shape 15"/>
          <p:cNvSpPr/>
          <p:nvPr/>
        </p:nvSpPr>
        <p:spPr>
          <a:xfrm>
            <a:off x="9784080" y="3291840"/>
            <a:ext cx="1828800" cy="1417320"/>
          </a:xfrm>
          <a:prstGeom prst="roundRect">
            <a:avLst>
              <a:gd name="adj" fmla="val 5161"/>
            </a:avLst>
          </a:prstGeom>
          <a:solidFill>
            <a:srgbClr val="F4F6FB"/>
          </a:solidFill>
          <a:ln w="12700">
            <a:solidFill>
              <a:srgbClr val="F4F6FB"/>
            </a:solidFill>
            <a:prstDash val="solid"/>
          </a:ln>
        </p:spPr>
      </p:sp>
      <p:sp>
        <p:nvSpPr>
          <p:cNvPr id="18" name="Text 16"/>
          <p:cNvSpPr/>
          <p:nvPr/>
        </p:nvSpPr>
        <p:spPr>
          <a:xfrm>
            <a:off x="9921240" y="3438144"/>
            <a:ext cx="155448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1,255</a:t>
            </a:r>
            <a:endParaRPr lang="en-US" sz="4000" dirty="0"/>
          </a:p>
        </p:txBody>
      </p:sp>
      <p:sp>
        <p:nvSpPr>
          <p:cNvPr id="19" name="Text 17"/>
          <p:cNvSpPr/>
          <p:nvPr/>
        </p:nvSpPr>
        <p:spPr>
          <a:xfrm>
            <a:off x="9921240" y="4206240"/>
            <a:ext cx="155448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distinct tags</a:t>
            </a:r>
            <a:endParaRPr lang="en-US" sz="1250" dirty="0"/>
          </a:p>
        </p:txBody>
      </p:sp>
      <p:sp>
        <p:nvSpPr>
          <p:cNvPr id="20" name="Text 18"/>
          <p:cNvSpPr/>
          <p:nvPr/>
        </p:nvSpPr>
        <p:spPr>
          <a:xfrm>
            <a:off x="9921240" y="4480560"/>
            <a:ext cx="155448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ragged, sparse</a:t>
            </a:r>
            <a:endParaRPr lang="en-US" sz="1050" dirty="0"/>
          </a:p>
        </p:txBody>
      </p:sp>
      <p:sp>
        <p:nvSpPr>
          <p:cNvPr id="21" name="Text 19"/>
          <p:cNvSpPr/>
          <p:nvPr/>
        </p:nvSpPr>
        <p:spPr>
          <a:xfrm>
            <a:off x="7498080" y="4892040"/>
            <a:ext cx="4114800" cy="640080"/>
          </a:xfrm>
          <a:prstGeom prst="rect">
            <a:avLst/>
          </a:prstGeom>
          <a:noFill/>
          <a:ln/>
        </p:spPr>
        <p:txBody>
          <a:bodyPr wrap="square" lIns="0" tIns="0" rIns="0" bIns="0" rtlCol="0" anchor="ctr"/>
          <a:lstStyle/>
          <a:p>
            <a:pPr indent="0" marL="0">
              <a:buNone/>
            </a:pPr>
            <a:r>
              <a:rPr lang="en-US" sz="1100" i="1" dirty="0">
                <a:solidFill>
                  <a:srgbClr val="5A6485"/>
                </a:solidFill>
                <a:latin typeface="Calibri" pitchFamily="34" charset="0"/>
                <a:ea typeface="Calibri" pitchFamily="34" charset="-122"/>
                <a:cs typeface="Calibri" pitchFamily="34" charset="-120"/>
              </a:rPr>
              <a:t>Majority class is Technical Support at 29.3% — the number every model must beat.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Architecture</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ELT, not ETL — the broker holds raw truth and Spark does the transformation</a:t>
            </a:r>
            <a:endParaRPr lang="en-US" sz="1400" dirty="0"/>
          </a:p>
        </p:txBody>
      </p:sp>
      <p:sp>
        <p:nvSpPr>
          <p:cNvPr id="4" name="Shape 2"/>
          <p:cNvSpPr/>
          <p:nvPr/>
        </p:nvSpPr>
        <p:spPr>
          <a:xfrm>
            <a:off x="548640" y="1828800"/>
            <a:ext cx="2057400" cy="1371600"/>
          </a:xfrm>
          <a:prstGeom prst="roundRect">
            <a:avLst>
              <a:gd name="adj" fmla="val 4667"/>
            </a:avLst>
          </a:prstGeom>
          <a:solidFill>
            <a:srgbClr val="1E2761"/>
          </a:solidFill>
          <a:ln w="12700">
            <a:solidFill>
              <a:srgbClr val="1E2761"/>
            </a:solidFill>
            <a:prstDash val="solid"/>
          </a:ln>
        </p:spPr>
      </p:sp>
      <p:sp>
        <p:nvSpPr>
          <p:cNvPr id="5" name="Text 3"/>
          <p:cNvSpPr/>
          <p:nvPr/>
        </p:nvSpPr>
        <p:spPr>
          <a:xfrm>
            <a:off x="658368" y="1920240"/>
            <a:ext cx="183794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1 · Ingest</a:t>
            </a:r>
            <a:endParaRPr lang="en-US" sz="1200" dirty="0"/>
          </a:p>
        </p:txBody>
      </p:sp>
      <p:sp>
        <p:nvSpPr>
          <p:cNvPr id="6" name="Text 4"/>
          <p:cNvSpPr/>
          <p:nvPr/>
        </p:nvSpPr>
        <p:spPr>
          <a:xfrm>
            <a:off x="658368" y="2212848"/>
            <a:ext cx="183794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producer.py</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CSV → JSON</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Kafka tickets.raw</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keyed by content hash</a:t>
            </a:r>
            <a:endParaRPr lang="en-US" sz="950" dirty="0"/>
          </a:p>
        </p:txBody>
      </p:sp>
      <p:sp>
        <p:nvSpPr>
          <p:cNvPr id="7" name="Text 5"/>
          <p:cNvSpPr/>
          <p:nvPr/>
        </p:nvSpPr>
        <p:spPr>
          <a:xfrm>
            <a:off x="269748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8" name="Shape 6"/>
          <p:cNvSpPr/>
          <p:nvPr/>
        </p:nvSpPr>
        <p:spPr>
          <a:xfrm>
            <a:off x="3063240" y="1828800"/>
            <a:ext cx="2240280" cy="1371600"/>
          </a:xfrm>
          <a:prstGeom prst="roundRect">
            <a:avLst>
              <a:gd name="adj" fmla="val 4667"/>
            </a:avLst>
          </a:prstGeom>
          <a:solidFill>
            <a:srgbClr val="1E2761"/>
          </a:solidFill>
          <a:ln w="12700">
            <a:solidFill>
              <a:srgbClr val="1E2761"/>
            </a:solidFill>
            <a:prstDash val="solid"/>
          </a:ln>
        </p:spPr>
      </p:sp>
      <p:sp>
        <p:nvSpPr>
          <p:cNvPr id="9" name="Text 7"/>
          <p:cNvSpPr/>
          <p:nvPr/>
        </p:nvSpPr>
        <p:spPr>
          <a:xfrm>
            <a:off x="3172968" y="1920240"/>
            <a:ext cx="20208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2 · Transform</a:t>
            </a:r>
            <a:endParaRPr lang="en-US" sz="1200" dirty="0"/>
          </a:p>
        </p:txBody>
      </p:sp>
      <p:sp>
        <p:nvSpPr>
          <p:cNvPr id="10" name="Text 8"/>
          <p:cNvSpPr/>
          <p:nvPr/>
        </p:nvSpPr>
        <p:spPr>
          <a:xfrm>
            <a:off x="3172968" y="2212848"/>
            <a:ext cx="20208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Spark Structured</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Streaming</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foreachBatch fan-out</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enrichment UDFs</a:t>
            </a:r>
            <a:endParaRPr lang="en-US" sz="950" dirty="0"/>
          </a:p>
        </p:txBody>
      </p:sp>
      <p:sp>
        <p:nvSpPr>
          <p:cNvPr id="11" name="Text 9"/>
          <p:cNvSpPr/>
          <p:nvPr/>
        </p:nvSpPr>
        <p:spPr>
          <a:xfrm>
            <a:off x="539496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12" name="Shape 10"/>
          <p:cNvSpPr/>
          <p:nvPr/>
        </p:nvSpPr>
        <p:spPr>
          <a:xfrm>
            <a:off x="5760720" y="1828800"/>
            <a:ext cx="2240280" cy="1371600"/>
          </a:xfrm>
          <a:prstGeom prst="roundRect">
            <a:avLst>
              <a:gd name="adj" fmla="val 4667"/>
            </a:avLst>
          </a:prstGeom>
          <a:solidFill>
            <a:srgbClr val="1E2761"/>
          </a:solidFill>
          <a:ln w="12700">
            <a:solidFill>
              <a:srgbClr val="1E2761"/>
            </a:solidFill>
            <a:prstDash val="solid"/>
          </a:ln>
        </p:spPr>
      </p:sp>
      <p:sp>
        <p:nvSpPr>
          <p:cNvPr id="13" name="Text 11"/>
          <p:cNvSpPr/>
          <p:nvPr/>
        </p:nvSpPr>
        <p:spPr>
          <a:xfrm>
            <a:off x="5870448" y="1920240"/>
            <a:ext cx="20208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3 · Lake (MinIO)</a:t>
            </a:r>
            <a:endParaRPr lang="en-US" sz="1200" dirty="0"/>
          </a:p>
        </p:txBody>
      </p:sp>
      <p:sp>
        <p:nvSpPr>
          <p:cNvPr id="14" name="Text 12"/>
          <p:cNvSpPr/>
          <p:nvPr/>
        </p:nvSpPr>
        <p:spPr>
          <a:xfrm>
            <a:off x="5870448" y="2212848"/>
            <a:ext cx="20208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bronze — raw, immutable</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silver — enriched</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gold — KPI aggregates</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Parquet throughout</a:t>
            </a:r>
            <a:endParaRPr lang="en-US" sz="950" dirty="0"/>
          </a:p>
        </p:txBody>
      </p:sp>
      <p:sp>
        <p:nvSpPr>
          <p:cNvPr id="15" name="Text 13"/>
          <p:cNvSpPr/>
          <p:nvPr/>
        </p:nvSpPr>
        <p:spPr>
          <a:xfrm>
            <a:off x="809244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8458200" y="1828800"/>
            <a:ext cx="3154680" cy="1371600"/>
          </a:xfrm>
          <a:prstGeom prst="roundRect">
            <a:avLst>
              <a:gd name="adj" fmla="val 4667"/>
            </a:avLst>
          </a:prstGeom>
          <a:solidFill>
            <a:srgbClr val="1E2761"/>
          </a:solidFill>
          <a:ln w="12700">
            <a:solidFill>
              <a:srgbClr val="1E2761"/>
            </a:solidFill>
            <a:prstDash val="solid"/>
          </a:ln>
        </p:spPr>
      </p:sp>
      <p:sp>
        <p:nvSpPr>
          <p:cNvPr id="17" name="Text 15"/>
          <p:cNvSpPr/>
          <p:nvPr/>
        </p:nvSpPr>
        <p:spPr>
          <a:xfrm>
            <a:off x="8567928" y="1920240"/>
            <a:ext cx="29352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4 · Serve</a:t>
            </a:r>
            <a:endParaRPr lang="en-US" sz="1200" dirty="0"/>
          </a:p>
        </p:txBody>
      </p:sp>
      <p:sp>
        <p:nvSpPr>
          <p:cNvPr id="18" name="Text 16"/>
          <p:cNvSpPr/>
          <p:nvPr/>
        </p:nvSpPr>
        <p:spPr>
          <a:xfrm>
            <a:off x="8567928" y="2212848"/>
            <a:ext cx="29352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Elasticsearch — dense_vector 384</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cosine kNN + BM25, same docs</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Kibana dashboards</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FastAPI /search /ask /route</a:t>
            </a:r>
            <a:endParaRPr lang="en-US" sz="950" dirty="0"/>
          </a:p>
        </p:txBody>
      </p:sp>
      <p:sp>
        <p:nvSpPr>
          <p:cNvPr id="19" name="Shape 17"/>
          <p:cNvSpPr/>
          <p:nvPr/>
        </p:nvSpPr>
        <p:spPr>
          <a:xfrm>
            <a:off x="548640" y="3429000"/>
            <a:ext cx="11064240" cy="1143000"/>
          </a:xfrm>
          <a:prstGeom prst="roundRect">
            <a:avLst>
              <a:gd name="adj" fmla="val 6400"/>
            </a:avLst>
          </a:prstGeom>
          <a:solidFill>
            <a:srgbClr val="F4F6FB"/>
          </a:solidFill>
          <a:ln w="12700">
            <a:solidFill>
              <a:srgbClr val="F4F6FB"/>
            </a:solidFill>
            <a:prstDash val="solid"/>
          </a:ln>
        </p:spPr>
      </p:sp>
      <p:sp>
        <p:nvSpPr>
          <p:cNvPr id="20" name="Text 18"/>
          <p:cNvSpPr/>
          <p:nvPr/>
        </p:nvSpPr>
        <p:spPr>
          <a:xfrm>
            <a:off x="731520" y="3520440"/>
            <a:ext cx="4572000" cy="27432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Enrichment applied to every ticket</a:t>
            </a:r>
            <a:endParaRPr lang="en-US" sz="1200" dirty="0"/>
          </a:p>
        </p:txBody>
      </p:sp>
      <p:sp>
        <p:nvSpPr>
          <p:cNvPr id="21" name="Text 19"/>
          <p:cNvSpPr/>
          <p:nvPr/>
        </p:nvSpPr>
        <p:spPr>
          <a:xfrm>
            <a:off x="731520" y="3840480"/>
            <a:ext cx="10698480" cy="320040"/>
          </a:xfrm>
          <a:prstGeom prst="rect">
            <a:avLst/>
          </a:prstGeom>
          <a:noFill/>
          <a:ln/>
        </p:spPr>
        <p:txBody>
          <a:bodyPr wrap="square" lIns="0" tIns="0" rIns="0" bIns="0" rtlCol="0" anchor="ctr"/>
          <a:lstStyle/>
          <a:p>
            <a:pPr indent="0" marL="0">
              <a:buNone/>
            </a:pPr>
            <a:r>
              <a:rPr lang="en-US" sz="1250" dirty="0">
                <a:solidFill>
                  <a:srgbClr val="1E2761"/>
                </a:solidFill>
                <a:latin typeface="Calibri" pitchFamily="34" charset="0"/>
                <a:ea typeface="Calibri" pitchFamily="34" charset="-122"/>
                <a:cs typeface="Calibri" pitchFamily="34" charset="-120"/>
              </a:rPr>
              <a:t>normalise text  ·  redact PII  ·  detect language  ·  sentiment  ·  rule classify  ·  embed 384-d</a:t>
            </a:r>
            <a:endParaRPr lang="en-US" sz="1250" dirty="0"/>
          </a:p>
        </p:txBody>
      </p:sp>
      <p:sp>
        <p:nvSpPr>
          <p:cNvPr id="22" name="Text 20"/>
          <p:cNvSpPr/>
          <p:nvPr/>
        </p:nvSpPr>
        <p:spPr>
          <a:xfrm>
            <a:off x="731520" y="4160520"/>
            <a:ext cx="10698480" cy="320040"/>
          </a:xfrm>
          <a:prstGeom prst="rect">
            <a:avLst/>
          </a:prstGeom>
          <a:noFill/>
          <a:ln/>
        </p:spPr>
        <p:txBody>
          <a:bodyPr wrap="square" lIns="0" tIns="0" rIns="0" bIns="0" rtlCol="0" anchor="ctr"/>
          <a:lstStyle/>
          <a:p>
            <a:pPr indent="0" marL="0">
              <a:buNone/>
            </a:pPr>
            <a:r>
              <a:rPr lang="en-US" sz="1100" i="1" dirty="0">
                <a:solidFill>
                  <a:srgbClr val="5A6485"/>
                </a:solidFill>
                <a:latin typeface="Calibri" pitchFamily="34" charset="0"/>
                <a:ea typeface="Calibri" pitchFamily="34" charset="-122"/>
                <a:cs typeface="Calibri" pitchFamily="34" charset="-120"/>
              </a:rPr>
              <a:t>All of it is pure Python in core/ — Spark calls the same functions the unit tests call.</a:t>
            </a:r>
            <a:endParaRPr lang="en-US" sz="1100" dirty="0"/>
          </a:p>
        </p:txBody>
      </p:sp>
      <p:sp>
        <p:nvSpPr>
          <p:cNvPr id="23" name="Text 21"/>
          <p:cNvSpPr/>
          <p:nvPr/>
        </p:nvSpPr>
        <p:spPr>
          <a:xfrm>
            <a:off x="548640" y="4800600"/>
            <a:ext cx="11064240" cy="45720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Why foreachBatch instead of three streaming sinks?  </a:t>
            </a:r>
            <a:pPr indent="0" marL="0">
              <a:buNone/>
            </a:pPr>
            <a:r>
              <a:rPr lang="en-US" sz="1200" dirty="0">
                <a:solidFill>
                  <a:srgbClr val="16203F"/>
                </a:solidFill>
                <a:latin typeface="Calibri" pitchFamily="34" charset="0"/>
                <a:ea typeface="Calibri" pitchFamily="34" charset="-122"/>
                <a:cs typeface="Calibri" pitchFamily="34" charset="-120"/>
              </a:rPr>
              <a:t>One micro-batch fans out to two Parquet paths and Elasticsearch. Three separate writeStream queries would re-run the expensive enrichment for each sink.</a:t>
            </a:r>
            <a:endParaRPr lang="en-US" sz="1200" dirty="0"/>
          </a:p>
        </p:txBody>
      </p:sp>
      <p:sp>
        <p:nvSpPr>
          <p:cNvPr id="24" name="Text 22"/>
          <p:cNvSpPr/>
          <p:nvPr/>
        </p:nvSpPr>
        <p:spPr>
          <a:xfrm>
            <a:off x="548640" y="5303520"/>
            <a:ext cx="11064240" cy="45720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Why a content-hash ticket_id?  </a:t>
            </a:r>
            <a:pPr indent="0" marL="0">
              <a:buNone/>
            </a:pPr>
            <a:r>
              <a:rPr lang="en-US" sz="1200" dirty="0">
                <a:solidFill>
                  <a:srgbClr val="16203F"/>
                </a:solidFill>
                <a:latin typeface="Calibri" pitchFamily="34" charset="0"/>
                <a:ea typeface="Calibri" pitchFamily="34" charset="-122"/>
                <a:cs typeface="Calibri" pitchFamily="34" charset="-120"/>
              </a:rPr>
              <a:t>Kafka gives at-least-once. Hashing content makes every sink idempotent, so a replayed batch overwrites rather than duplicates — effectively-once without transactions.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AI capability</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Four of the brief's options; embeddings + semantic search is the centrepiece</a:t>
            </a:r>
            <a:endParaRPr lang="en-US" sz="1400" dirty="0"/>
          </a:p>
        </p:txBody>
      </p:sp>
      <p:sp>
        <p:nvSpPr>
          <p:cNvPr id="4" name="Shape 2"/>
          <p:cNvSpPr/>
          <p:nvPr/>
        </p:nvSpPr>
        <p:spPr>
          <a:xfrm>
            <a:off x="548640" y="1837944"/>
            <a:ext cx="457200" cy="457200"/>
          </a:xfrm>
          <a:prstGeom prst="ellipse">
            <a:avLst/>
          </a:prstGeom>
          <a:solidFill>
            <a:srgbClr val="2A9D8F"/>
          </a:solidFill>
          <a:ln w="12700">
            <a:solidFill>
              <a:srgbClr val="2A9D8F"/>
            </a:solidFill>
            <a:prstDash val="solid"/>
          </a:ln>
        </p:spPr>
      </p:sp>
      <p:sp>
        <p:nvSpPr>
          <p:cNvPr id="5" name="Text 3"/>
          <p:cNvSpPr/>
          <p:nvPr/>
        </p:nvSpPr>
        <p:spPr>
          <a:xfrm>
            <a:off x="548640" y="183794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b</a:t>
            </a:r>
            <a:endParaRPr lang="en-US" sz="1700" dirty="0"/>
          </a:p>
        </p:txBody>
      </p:sp>
      <p:sp>
        <p:nvSpPr>
          <p:cNvPr id="6" name="Text 4"/>
          <p:cNvSpPr/>
          <p:nvPr/>
        </p:nvSpPr>
        <p:spPr>
          <a:xfrm>
            <a:off x="1188720" y="1801368"/>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Embeddings + semantic search</a:t>
            </a:r>
            <a:endParaRPr lang="en-US" sz="1450" dirty="0"/>
          </a:p>
        </p:txBody>
      </p:sp>
      <p:sp>
        <p:nvSpPr>
          <p:cNvPr id="7" name="Text 5"/>
          <p:cNvSpPr/>
          <p:nvPr/>
        </p:nvSpPr>
        <p:spPr>
          <a:xfrm>
            <a:off x="1188720" y="2093976"/>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384-d vectors in an Elasticsearch dense_vector field, cosine kNN</a:t>
            </a:r>
            <a:endParaRPr lang="en-US" sz="1150" dirty="0"/>
          </a:p>
        </p:txBody>
      </p:sp>
      <p:sp>
        <p:nvSpPr>
          <p:cNvPr id="8" name="Shape 6"/>
          <p:cNvSpPr/>
          <p:nvPr/>
        </p:nvSpPr>
        <p:spPr>
          <a:xfrm>
            <a:off x="548640" y="2587752"/>
            <a:ext cx="457200" cy="457200"/>
          </a:xfrm>
          <a:prstGeom prst="ellipse">
            <a:avLst/>
          </a:prstGeom>
          <a:solidFill>
            <a:srgbClr val="1E2761"/>
          </a:solidFill>
          <a:ln w="12700">
            <a:solidFill>
              <a:srgbClr val="1E2761"/>
            </a:solidFill>
            <a:prstDash val="solid"/>
          </a:ln>
        </p:spPr>
      </p:sp>
      <p:sp>
        <p:nvSpPr>
          <p:cNvPr id="9" name="Text 7"/>
          <p:cNvSpPr/>
          <p:nvPr/>
        </p:nvSpPr>
        <p:spPr>
          <a:xfrm>
            <a:off x="548640" y="258775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f</a:t>
            </a:r>
            <a:endParaRPr lang="en-US" sz="1700" dirty="0"/>
          </a:p>
        </p:txBody>
      </p:sp>
      <p:sp>
        <p:nvSpPr>
          <p:cNvPr id="10" name="Text 8"/>
          <p:cNvSpPr/>
          <p:nvPr/>
        </p:nvSpPr>
        <p:spPr>
          <a:xfrm>
            <a:off x="1188720" y="2551176"/>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k-NN routing classifier</a:t>
            </a:r>
            <a:endParaRPr lang="en-US" sz="1450" dirty="0"/>
          </a:p>
        </p:txBody>
      </p:sp>
      <p:sp>
        <p:nvSpPr>
          <p:cNvPr id="11" name="Text 9"/>
          <p:cNvSpPr/>
          <p:nvPr/>
        </p:nvSpPr>
        <p:spPr>
          <a:xfrm>
            <a:off x="1188720" y="2843784"/>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Reuses the same vectors — no separate model, no training run</a:t>
            </a:r>
            <a:endParaRPr lang="en-US" sz="1150" dirty="0"/>
          </a:p>
        </p:txBody>
      </p:sp>
      <p:sp>
        <p:nvSpPr>
          <p:cNvPr id="12" name="Shape 10"/>
          <p:cNvSpPr/>
          <p:nvPr/>
        </p:nvSpPr>
        <p:spPr>
          <a:xfrm>
            <a:off x="548640" y="3337560"/>
            <a:ext cx="457200" cy="457200"/>
          </a:xfrm>
          <a:prstGeom prst="ellipse">
            <a:avLst/>
          </a:prstGeom>
          <a:solidFill>
            <a:srgbClr val="1E2761"/>
          </a:solidFill>
          <a:ln w="12700">
            <a:solidFill>
              <a:srgbClr val="1E2761"/>
            </a:solidFill>
            <a:prstDash val="solid"/>
          </a:ln>
        </p:spPr>
      </p:sp>
      <p:sp>
        <p:nvSpPr>
          <p:cNvPr id="13" name="Text 11"/>
          <p:cNvSpPr/>
          <p:nvPr/>
        </p:nvSpPr>
        <p:spPr>
          <a:xfrm>
            <a:off x="548640" y="333756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14" name="Text 12"/>
          <p:cNvSpPr/>
          <p:nvPr/>
        </p:nvSpPr>
        <p:spPr>
          <a:xfrm>
            <a:off x="1188720" y="3300984"/>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RAG question answering</a:t>
            </a:r>
            <a:endParaRPr lang="en-US" sz="1450" dirty="0"/>
          </a:p>
        </p:txBody>
      </p:sp>
      <p:sp>
        <p:nvSpPr>
          <p:cNvPr id="15" name="Text 13"/>
          <p:cNvSpPr/>
          <p:nvPr/>
        </p:nvSpPr>
        <p:spPr>
          <a:xfrm>
            <a:off x="1188720" y="3593592"/>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Retrieves k tickets, answers only from them, citations verified</a:t>
            </a:r>
            <a:endParaRPr lang="en-US" sz="1150" dirty="0"/>
          </a:p>
        </p:txBody>
      </p:sp>
      <p:sp>
        <p:nvSpPr>
          <p:cNvPr id="16" name="Shape 14"/>
          <p:cNvSpPr/>
          <p:nvPr/>
        </p:nvSpPr>
        <p:spPr>
          <a:xfrm>
            <a:off x="548640" y="4087368"/>
            <a:ext cx="457200" cy="457200"/>
          </a:xfrm>
          <a:prstGeom prst="ellipse">
            <a:avLst/>
          </a:prstGeom>
          <a:solidFill>
            <a:srgbClr val="1E2761"/>
          </a:solidFill>
          <a:ln w="12700">
            <a:solidFill>
              <a:srgbClr val="1E2761"/>
            </a:solidFill>
            <a:prstDash val="solid"/>
          </a:ln>
        </p:spPr>
      </p:sp>
      <p:sp>
        <p:nvSpPr>
          <p:cNvPr id="17" name="Text 15"/>
          <p:cNvSpPr/>
          <p:nvPr/>
        </p:nvSpPr>
        <p:spPr>
          <a:xfrm>
            <a:off x="548640" y="408736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18" name="Text 16"/>
          <p:cNvSpPr/>
          <p:nvPr/>
        </p:nvSpPr>
        <p:spPr>
          <a:xfrm>
            <a:off x="1188720" y="4050792"/>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LLM enrichment</a:t>
            </a:r>
            <a:endParaRPr lang="en-US" sz="1450" dirty="0"/>
          </a:p>
        </p:txBody>
      </p:sp>
      <p:sp>
        <p:nvSpPr>
          <p:cNvPr id="19" name="Text 17"/>
          <p:cNvSpPr/>
          <p:nvPr/>
        </p:nvSpPr>
        <p:spPr>
          <a:xfrm>
            <a:off x="1188720" y="4343400"/>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Classify, tag, summarise — output validated against known labels</a:t>
            </a:r>
            <a:endParaRPr lang="en-US" sz="1150" dirty="0"/>
          </a:p>
        </p:txBody>
      </p:sp>
      <p:sp>
        <p:nvSpPr>
          <p:cNvPr id="20" name="Shape 18"/>
          <p:cNvSpPr/>
          <p:nvPr/>
        </p:nvSpPr>
        <p:spPr>
          <a:xfrm>
            <a:off x="7498080" y="1783080"/>
            <a:ext cx="4114800" cy="2286000"/>
          </a:xfrm>
          <a:prstGeom prst="roundRect">
            <a:avLst>
              <a:gd name="adj" fmla="val 3200"/>
            </a:avLst>
          </a:prstGeom>
          <a:solidFill>
            <a:srgbClr val="1E2761"/>
          </a:solidFill>
          <a:ln w="12700">
            <a:solidFill>
              <a:srgbClr val="1E2761"/>
            </a:solidFill>
            <a:prstDash val="solid"/>
          </a:ln>
        </p:spPr>
      </p:sp>
      <p:sp>
        <p:nvSpPr>
          <p:cNvPr id="21" name="Text 19"/>
          <p:cNvSpPr/>
          <p:nvPr/>
        </p:nvSpPr>
        <p:spPr>
          <a:xfrm>
            <a:off x="7726680" y="1920240"/>
            <a:ext cx="36576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Two backends, one interface</a:t>
            </a:r>
            <a:endParaRPr lang="en-US" sz="1300" dirty="0"/>
          </a:p>
        </p:txBody>
      </p:sp>
      <p:sp>
        <p:nvSpPr>
          <p:cNvPr id="22" name="Text 20"/>
          <p:cNvSpPr/>
          <p:nvPr/>
        </p:nvSpPr>
        <p:spPr>
          <a:xfrm>
            <a:off x="7726680" y="2286000"/>
            <a:ext cx="3657600" cy="164592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multilingual MiniLM — a shared en/de vector space</a:t>
            </a:r>
            <a:endParaRPr lang="en-US" sz="1100" dirty="0"/>
          </a:p>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offline TF-IDF + SVD — no download, deterministic</a:t>
            </a:r>
            <a:endParaRPr lang="en-US" sz="1100" dirty="0"/>
          </a:p>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Identical width and normalisation, so the ES mapping never changes between them.</a:t>
            </a:r>
            <a:endParaRPr lang="en-US" sz="1100" dirty="0"/>
          </a:p>
        </p:txBody>
      </p:sp>
      <p:sp>
        <p:nvSpPr>
          <p:cNvPr id="23" name="Shape 21"/>
          <p:cNvSpPr/>
          <p:nvPr/>
        </p:nvSpPr>
        <p:spPr>
          <a:xfrm>
            <a:off x="7498080" y="4297680"/>
            <a:ext cx="4114800" cy="1874520"/>
          </a:xfrm>
          <a:prstGeom prst="roundRect">
            <a:avLst>
              <a:gd name="adj" fmla="val 3902"/>
            </a:avLst>
          </a:prstGeom>
          <a:solidFill>
            <a:srgbClr val="F4F6FB"/>
          </a:solidFill>
          <a:ln w="12700">
            <a:solidFill>
              <a:srgbClr val="F4F6FB"/>
            </a:solidFill>
            <a:prstDash val="solid"/>
          </a:ln>
        </p:spPr>
      </p:sp>
      <p:sp>
        <p:nvSpPr>
          <p:cNvPr id="24" name="Text 22"/>
          <p:cNvSpPr/>
          <p:nvPr/>
        </p:nvSpPr>
        <p:spPr>
          <a:xfrm>
            <a:off x="7726680" y="4434840"/>
            <a:ext cx="3657600" cy="274320"/>
          </a:xfrm>
          <a:prstGeom prst="rect">
            <a:avLst/>
          </a:prstGeom>
          <a:noFill/>
          <a:ln/>
        </p:spPr>
        <p:txBody>
          <a:bodyPr wrap="square" lIns="0" tIns="0" rIns="0" bIns="0" rtlCol="0" anchor="ctr"/>
          <a:lstStyle/>
          <a:p>
            <a:pPr indent="0" marL="0">
              <a:buNone/>
            </a:pPr>
            <a:r>
              <a:rPr lang="en-US" sz="1300" b="1" dirty="0">
                <a:solidFill>
                  <a:srgbClr val="16203F"/>
                </a:solidFill>
                <a:latin typeface="Calibri" pitchFamily="34" charset="0"/>
                <a:ea typeface="Calibri" pitchFamily="34" charset="-122"/>
                <a:cs typeface="Calibri" pitchFamily="34" charset="-120"/>
              </a:rPr>
              <a:t>Guardrails, not prompts</a:t>
            </a:r>
            <a:endParaRPr lang="en-US" sz="1300" dirty="0"/>
          </a:p>
        </p:txBody>
      </p:sp>
      <p:sp>
        <p:nvSpPr>
          <p:cNvPr id="25" name="Text 23"/>
          <p:cNvSpPr/>
          <p:nvPr/>
        </p:nvSpPr>
        <p:spPr>
          <a:xfrm>
            <a:off x="7726680" y="4800600"/>
            <a:ext cx="3657600" cy="123444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PII gate fails closed before any hosted call</a:t>
            </a:r>
            <a:endParaRPr lang="en-US" sz="1100" dirty="0"/>
          </a:p>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Invented queue labels rejected, not indexed</a:t>
            </a:r>
            <a:endParaRPr lang="en-US" sz="1100" dirty="0"/>
          </a:p>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RAG citations checked against retrieved ids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Result: routing tickets from text alone</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Stratified 25% held-out split, n = 7,145</a:t>
            </a:r>
            <a:endParaRPr lang="en-US" sz="1400" dirty="0"/>
          </a:p>
        </p:txBody>
      </p:sp>
      <p:graphicFrame>
        <p:nvGraphicFramePr>
          <p:cNvPr id="4" name="Chart 0" descr=""/>
          <p:cNvGraphicFramePr/>
          <p:nvPr/>
        </p:nvGraphicFramePr>
        <p:xfrm>
          <a:off x="502920" y="1783080"/>
          <a:ext cx="5943600" cy="37033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766560" y="1783080"/>
            <a:ext cx="2331720" cy="1600200"/>
          </a:xfrm>
          <a:prstGeom prst="roundRect">
            <a:avLst>
              <a:gd name="adj" fmla="val 4571"/>
            </a:avLst>
          </a:prstGeom>
          <a:solidFill>
            <a:srgbClr val="F4F6FB"/>
          </a:solidFill>
          <a:ln w="12700">
            <a:solidFill>
              <a:srgbClr val="F4F6FB"/>
            </a:solidFill>
            <a:prstDash val="solid"/>
          </a:ln>
        </p:spPr>
      </p:sp>
      <p:sp>
        <p:nvSpPr>
          <p:cNvPr id="6" name="Text 3"/>
          <p:cNvSpPr/>
          <p:nvPr/>
        </p:nvSpPr>
        <p:spPr>
          <a:xfrm>
            <a:off x="6903720" y="1929384"/>
            <a:ext cx="2057400" cy="777240"/>
          </a:xfrm>
          <a:prstGeom prst="rect">
            <a:avLst/>
          </a:prstGeom>
          <a:noFill/>
          <a:ln/>
        </p:spPr>
        <p:txBody>
          <a:bodyPr wrap="square" lIns="0" tIns="0" rIns="0" bIns="0" rtlCol="0" anchor="ctr"/>
          <a:lstStyle/>
          <a:p>
            <a:pPr algn="ctr" indent="0" marL="0">
              <a:buNone/>
            </a:pPr>
            <a:r>
              <a:rPr lang="en-US" sz="4000" b="1" dirty="0">
                <a:solidFill>
                  <a:srgbClr val="2A9D8F"/>
                </a:solidFill>
                <a:latin typeface="Cambria" pitchFamily="34" charset="0"/>
                <a:ea typeface="Cambria" pitchFamily="34" charset="-122"/>
                <a:cs typeface="Cambria" pitchFamily="34" charset="-120"/>
              </a:rPr>
              <a:t>64.8%</a:t>
            </a:r>
            <a:endParaRPr lang="en-US" sz="4000" dirty="0"/>
          </a:p>
        </p:txBody>
      </p:sp>
      <p:sp>
        <p:nvSpPr>
          <p:cNvPr id="7" name="Text 4"/>
          <p:cNvSpPr/>
          <p:nvPr/>
        </p:nvSpPr>
        <p:spPr>
          <a:xfrm>
            <a:off x="6903720" y="2697480"/>
            <a:ext cx="20574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best router accuracy</a:t>
            </a:r>
            <a:endParaRPr lang="en-US" sz="1250" dirty="0"/>
          </a:p>
        </p:txBody>
      </p:sp>
      <p:sp>
        <p:nvSpPr>
          <p:cNvPr id="8" name="Text 5"/>
          <p:cNvSpPr/>
          <p:nvPr/>
        </p:nvSpPr>
        <p:spPr>
          <a:xfrm>
            <a:off x="6903720" y="2971800"/>
            <a:ext cx="20574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vs 29.3% majority</a:t>
            </a:r>
            <a:endParaRPr lang="en-US" sz="1050" dirty="0"/>
          </a:p>
        </p:txBody>
      </p:sp>
      <p:sp>
        <p:nvSpPr>
          <p:cNvPr id="9" name="Shape 6"/>
          <p:cNvSpPr/>
          <p:nvPr/>
        </p:nvSpPr>
        <p:spPr>
          <a:xfrm>
            <a:off x="9281160" y="1783080"/>
            <a:ext cx="2331720" cy="1600200"/>
          </a:xfrm>
          <a:prstGeom prst="roundRect">
            <a:avLst>
              <a:gd name="adj" fmla="val 4571"/>
            </a:avLst>
          </a:prstGeom>
          <a:solidFill>
            <a:srgbClr val="F4F6FB"/>
          </a:solidFill>
          <a:ln w="12700">
            <a:solidFill>
              <a:srgbClr val="F4F6FB"/>
            </a:solidFill>
            <a:prstDash val="solid"/>
          </a:ln>
        </p:spPr>
      </p:sp>
      <p:sp>
        <p:nvSpPr>
          <p:cNvPr id="10" name="Text 7"/>
          <p:cNvSpPr/>
          <p:nvPr/>
        </p:nvSpPr>
        <p:spPr>
          <a:xfrm>
            <a:off x="9418320" y="1929384"/>
            <a:ext cx="2057400" cy="777240"/>
          </a:xfrm>
          <a:prstGeom prst="rect">
            <a:avLst/>
          </a:prstGeom>
          <a:noFill/>
          <a:ln/>
        </p:spPr>
        <p:txBody>
          <a:bodyPr wrap="square" lIns="0" tIns="0" rIns="0" bIns="0" rtlCol="0" anchor="ctr"/>
          <a:lstStyle/>
          <a:p>
            <a:pPr algn="ctr" indent="0" marL="0">
              <a:buNone/>
            </a:pPr>
            <a:r>
              <a:rPr lang="en-US" sz="4000" b="1" dirty="0">
                <a:solidFill>
                  <a:srgbClr val="2A9D8F"/>
                </a:solidFill>
                <a:latin typeface="Cambria" pitchFamily="34" charset="0"/>
                <a:ea typeface="Cambria" pitchFamily="34" charset="-122"/>
                <a:cs typeface="Cambria" pitchFamily="34" charset="-120"/>
              </a:rPr>
              <a:t>0.645</a:t>
            </a:r>
            <a:endParaRPr lang="en-US" sz="4000" dirty="0"/>
          </a:p>
        </p:txBody>
      </p:sp>
      <p:sp>
        <p:nvSpPr>
          <p:cNvPr id="11" name="Text 8"/>
          <p:cNvSpPr/>
          <p:nvPr/>
        </p:nvSpPr>
        <p:spPr>
          <a:xfrm>
            <a:off x="9418320" y="2697480"/>
            <a:ext cx="20574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macro-F1</a:t>
            </a:r>
            <a:endParaRPr lang="en-US" sz="1250" dirty="0"/>
          </a:p>
        </p:txBody>
      </p:sp>
      <p:sp>
        <p:nvSpPr>
          <p:cNvPr id="12" name="Text 9"/>
          <p:cNvSpPr/>
          <p:nvPr/>
        </p:nvSpPr>
        <p:spPr>
          <a:xfrm>
            <a:off x="9418320" y="2971800"/>
            <a:ext cx="20574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vs 0.045 majority</a:t>
            </a:r>
            <a:endParaRPr lang="en-US" sz="1050" dirty="0"/>
          </a:p>
        </p:txBody>
      </p:sp>
      <p:sp>
        <p:nvSpPr>
          <p:cNvPr id="13" name="Shape 10"/>
          <p:cNvSpPr/>
          <p:nvPr/>
        </p:nvSpPr>
        <p:spPr>
          <a:xfrm>
            <a:off x="6766560" y="3611880"/>
            <a:ext cx="4846320" cy="1874520"/>
          </a:xfrm>
          <a:prstGeom prst="roundRect">
            <a:avLst>
              <a:gd name="adj" fmla="val 3902"/>
            </a:avLst>
          </a:prstGeom>
          <a:solidFill>
            <a:srgbClr val="1E2761"/>
          </a:solidFill>
          <a:ln w="12700">
            <a:solidFill>
              <a:srgbClr val="1E2761"/>
            </a:solidFill>
            <a:prstDash val="solid"/>
          </a:ln>
        </p:spPr>
      </p:sp>
      <p:sp>
        <p:nvSpPr>
          <p:cNvPr id="14" name="Text 11"/>
          <p:cNvSpPr/>
          <p:nvPr/>
        </p:nvSpPr>
        <p:spPr>
          <a:xfrm>
            <a:off x="6949440" y="3730752"/>
            <a:ext cx="4480560" cy="292608"/>
          </a:xfrm>
          <a:prstGeom prst="rect">
            <a:avLst/>
          </a:prstGeom>
          <a:noFill/>
          <a:ln/>
        </p:spPr>
        <p:txBody>
          <a:bodyPr wrap="square" lIns="0" tIns="0" rIns="0" bIns="0" rtlCol="0" anchor="ctr"/>
          <a:lstStyle/>
          <a:p>
            <a:pPr indent="0" marL="0">
              <a:buNone/>
            </a:pPr>
            <a:r>
              <a:rPr lang="en-US" sz="1350" b="1" dirty="0">
                <a:solidFill>
                  <a:srgbClr val="E8A33D"/>
                </a:solidFill>
                <a:latin typeface="Calibri" pitchFamily="34" charset="0"/>
                <a:ea typeface="Calibri" pitchFamily="34" charset="-122"/>
                <a:cs typeface="Calibri" pitchFamily="34" charset="-120"/>
              </a:rPr>
              <a:t>Hand-written rules lose to guessing</a:t>
            </a:r>
            <a:endParaRPr lang="en-US" sz="1350" dirty="0"/>
          </a:p>
        </p:txBody>
      </p:sp>
      <p:sp>
        <p:nvSpPr>
          <p:cNvPr id="15" name="Text 12"/>
          <p:cNvSpPr/>
          <p:nvPr/>
        </p:nvSpPr>
        <p:spPr>
          <a:xfrm>
            <a:off x="6949440" y="4069080"/>
            <a:ext cx="4480560" cy="132588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27.4% accuracy is below the 29.3% you get by answering "Technical Support" every time. The rules do carry signal — macro-F1 0.208 against 0.045 — but on raw accuracy they are worse than a constant. This is why we report both metrics.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result that contradicted our design</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250 queries, k=5, proxy relevance — a hit counts if it shares ≥2 tags with the query ticket</a:t>
            </a:r>
            <a:endParaRPr lang="en-US" sz="1400" dirty="0"/>
          </a:p>
        </p:txBody>
      </p:sp>
      <p:graphicFrame>
        <p:nvGraphicFramePr>
          <p:cNvPr id="4" name="Chart 0" descr=""/>
          <p:cNvGraphicFramePr/>
          <p:nvPr/>
        </p:nvGraphicFramePr>
        <p:xfrm>
          <a:off x="502920" y="1828800"/>
          <a:ext cx="5852160" cy="3566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675120" y="1828800"/>
            <a:ext cx="4937760" cy="365760"/>
          </a:xfrm>
          <a:prstGeom prst="rect">
            <a:avLst/>
          </a:prstGeom>
          <a:noFill/>
          <a:ln/>
        </p:spPr>
        <p:txBody>
          <a:bodyPr wrap="square" lIns="0" tIns="0" rIns="0" bIns="0" rtlCol="0" anchor="ctr"/>
          <a:lstStyle/>
          <a:p>
            <a:pPr indent="0" marL="0">
              <a:buNone/>
            </a:pPr>
            <a:r>
              <a:rPr lang="en-US" sz="1900" b="1" dirty="0">
                <a:solidFill>
                  <a:srgbClr val="C1443C"/>
                </a:solidFill>
                <a:latin typeface="Cambria" pitchFamily="34" charset="0"/>
                <a:ea typeface="Cambria" pitchFamily="34" charset="-122"/>
                <a:cs typeface="Cambria" pitchFamily="34" charset="-120"/>
              </a:rPr>
              <a:t>Semantic search did not beat BM25.</a:t>
            </a:r>
            <a:endParaRPr lang="en-US" sz="1900" dirty="0"/>
          </a:p>
        </p:txBody>
      </p:sp>
      <p:sp>
        <p:nvSpPr>
          <p:cNvPr id="6" name="Text 3"/>
          <p:cNvSpPr/>
          <p:nvPr/>
        </p:nvSpPr>
        <p:spPr>
          <a:xfrm>
            <a:off x="6675120" y="2286000"/>
            <a:ext cx="4937760" cy="3108960"/>
          </a:xfrm>
          <a:prstGeom prst="rect">
            <a:avLst/>
          </a:prstGeom>
          <a:noFill/>
          <a:ln/>
        </p:spPr>
        <p:txBody>
          <a:bodyPr wrap="square" lIns="0" tIns="0" rIns="0" bIns="0" rtlCol="0" anchor="ctr"/>
          <a:lstStyle/>
          <a:p>
            <a:pPr indent="0" marL="0">
              <a:spcAft>
                <a:spcPts val="800"/>
              </a:spcAft>
              <a:buNone/>
            </a:pPr>
            <a:r>
              <a:rPr lang="en-US" sz="1300" b="1" dirty="0">
                <a:solidFill>
                  <a:srgbClr val="16203F"/>
                </a:solidFill>
                <a:latin typeface="Calibri" pitchFamily="34" charset="0"/>
                <a:ea typeface="Calibri" pitchFamily="34" charset="-122"/>
                <a:cs typeface="Calibri" pitchFamily="34" charset="-120"/>
              </a:rPr>
              <a:t>Why — and why it was predictable</a:t>
            </a:r>
            <a:endParaRPr lang="en-US" sz="1150" dirty="0"/>
          </a:p>
          <a:p>
            <a:pPr indent="0" marL="0">
              <a:spcAft>
                <a:spcPts val="800"/>
              </a:spcAft>
              <a:buNone/>
            </a:pPr>
            <a:r>
              <a:rPr lang="en-US" sz="1150" dirty="0">
                <a:solidFill>
                  <a:srgbClr val="16203F"/>
                </a:solidFill>
                <a:latin typeface="Calibri" pitchFamily="34" charset="0"/>
                <a:ea typeface="Calibri" pitchFamily="34" charset="-122"/>
                <a:cs typeface="Calibri" pitchFamily="34" charset="-120"/>
              </a:rPr>
              <a:t>These numbers come from the offline TF-IDF + SVD backend, i.e. LSA. LSA is a linear projection of the same term-document statistics BM25 already scores. It compresses lexical information; it adds no semantic information from outside the corpus.</a:t>
            </a:r>
            <a:endParaRPr lang="en-US" sz="1150" dirty="0"/>
          </a:p>
          <a:p>
            <a:pPr indent="0" marL="0">
              <a:spcAft>
                <a:spcPts val="800"/>
              </a:spcAft>
              <a:buNone/>
            </a:pPr>
            <a:r>
              <a:rPr lang="en-US" sz="1150" dirty="0">
                <a:solidFill>
                  <a:srgbClr val="16203F"/>
                </a:solidFill>
                <a:latin typeface="Calibri" pitchFamily="34" charset="0"/>
                <a:ea typeface="Calibri" pitchFamily="34" charset="-122"/>
                <a:cs typeface="Calibri" pitchFamily="34" charset="-120"/>
              </a:rPr>
              <a:t>The cross-lingual probe makes the point sharply: a German query retrieves ~0 relevant English tickets, because LSA shares no space across languages.</a:t>
            </a:r>
            <a:endParaRPr lang="en-US" sz="1150" dirty="0"/>
          </a:p>
          <a:p>
            <a:pPr indent="0" marL="0">
              <a:spcAft>
                <a:spcPts val="800"/>
              </a:spcAft>
              <a:buNone/>
            </a:pPr>
            <a:r>
              <a:rPr lang="en-US" sz="1150" b="1" dirty="0">
                <a:solidFill>
                  <a:srgbClr val="16203F"/>
                </a:solidFill>
                <a:latin typeface="Calibri" pitchFamily="34" charset="0"/>
                <a:ea typeface="Calibri" pitchFamily="34" charset="-122"/>
                <a:cs typeface="Calibri" pitchFamily="34" charset="-120"/>
              </a:rPr>
              <a:t>The multilingual neural model is expected to change both results. We have not measured it, so we do not claim it.</a:t>
            </a:r>
            <a:endParaRPr lang="en-US" sz="1150" dirty="0"/>
          </a:p>
        </p:txBody>
      </p:sp>
      <p:sp>
        <p:nvSpPr>
          <p:cNvPr id="7" name="Text 4"/>
          <p:cNvSpPr/>
          <p:nvPr/>
        </p:nvSpPr>
        <p:spPr>
          <a:xfrm>
            <a:off x="502920" y="5532120"/>
            <a:ext cx="11109960" cy="365760"/>
          </a:xfrm>
          <a:prstGeom prst="rect">
            <a:avLst/>
          </a:prstGeom>
          <a:noFill/>
          <a:ln/>
        </p:spPr>
        <p:txBody>
          <a:bodyPr wrap="square" lIns="0" tIns="0" rIns="0" bIns="0" rtlCol="0" anchor="ctr"/>
          <a:lstStyle/>
          <a:p>
            <a:pPr indent="0" marL="0">
              <a:buNone/>
            </a:pPr>
            <a:r>
              <a:rPr lang="en-US" sz="1150" i="1" dirty="0">
                <a:solidFill>
                  <a:srgbClr val="5A6485"/>
                </a:solidFill>
                <a:latin typeface="Calibri" pitchFamily="34" charset="0"/>
                <a:ea typeface="Calibri" pitchFamily="34" charset="-122"/>
                <a:cs typeface="Calibri" pitchFamily="34" charset="-120"/>
              </a:rPr>
              <a:t>Routing is a different task: k-NN exploits the geometry of the space, so embeddings win there even in LSA form.</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What the data told us</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Findings that change what an operations team would do on Monday</a:t>
            </a:r>
            <a:endParaRPr lang="en-US" sz="1400" dirty="0"/>
          </a:p>
        </p:txBody>
      </p:sp>
      <p:sp>
        <p:nvSpPr>
          <p:cNvPr id="4" name="Shape 2"/>
          <p:cNvSpPr/>
          <p:nvPr/>
        </p:nvSpPr>
        <p:spPr>
          <a:xfrm>
            <a:off x="548640" y="1737360"/>
            <a:ext cx="5440680" cy="1965960"/>
          </a:xfrm>
          <a:prstGeom prst="roundRect">
            <a:avLst>
              <a:gd name="adj" fmla="val 3721"/>
            </a:avLst>
          </a:prstGeom>
          <a:solidFill>
            <a:srgbClr val="1E2761"/>
          </a:solidFill>
          <a:ln w="12700">
            <a:solidFill>
              <a:srgbClr val="1E2761"/>
            </a:solidFill>
            <a:prstDash val="solid"/>
          </a:ln>
        </p:spPr>
      </p:sp>
      <p:sp>
        <p:nvSpPr>
          <p:cNvPr id="5" name="Text 3"/>
          <p:cNvSpPr/>
          <p:nvPr/>
        </p:nvSpPr>
        <p:spPr>
          <a:xfrm>
            <a:off x="731520" y="1847088"/>
            <a:ext cx="5074920" cy="292608"/>
          </a:xfrm>
          <a:prstGeom prst="rect">
            <a:avLst/>
          </a:prstGeom>
          <a:noFill/>
          <a:ln/>
        </p:spPr>
        <p:txBody>
          <a:bodyPr wrap="square" lIns="0" tIns="0" rIns="0" bIns="0" rtlCol="0" anchor="ctr"/>
          <a:lstStyle/>
          <a:p>
            <a:pPr indent="0" marL="0">
              <a:buNone/>
            </a:pPr>
            <a:r>
              <a:rPr lang="en-US" sz="1400" b="1" dirty="0">
                <a:solidFill>
                  <a:srgbClr val="E8A33D"/>
                </a:solidFill>
                <a:latin typeface="Calibri" pitchFamily="34" charset="0"/>
                <a:ea typeface="Calibri" pitchFamily="34" charset="-122"/>
                <a:cs typeface="Calibri" pitchFamily="34" charset="-120"/>
              </a:rPr>
              <a:t>The language label is broken in one direction</a:t>
            </a:r>
            <a:endParaRPr lang="en-US" sz="1400" dirty="0"/>
          </a:p>
        </p:txBody>
      </p:sp>
      <p:sp>
        <p:nvSpPr>
          <p:cNvPr id="6" name="Text 4"/>
          <p:cNvSpPr/>
          <p:nvPr/>
        </p:nvSpPr>
        <p:spPr>
          <a:xfrm>
            <a:off x="731520" y="2212848"/>
            <a:ext cx="5074920" cy="1371600"/>
          </a:xfrm>
          <a:prstGeom prst="rect">
            <a:avLst/>
          </a:prstGeom>
          <a:noFill/>
          <a:ln/>
        </p:spPr>
        <p:txBody>
          <a:bodyPr wrap="square" lIns="0" tIns="0" rIns="0" bIns="0" rtlCol="0" anchor="ctr"/>
          <a:lstStyle/>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Tickets labelled de are wrong 27.2% of the time.</a:t>
            </a:r>
            <a:endParaRPr lang="en-US" sz="1150" dirty="0"/>
          </a:p>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Tickets labelled en are wrong 0.05% of the time.</a:t>
            </a:r>
            <a:endParaRPr lang="en-US" sz="1150" dirty="0"/>
          </a:p>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The 11.7% headline rate hides a one-directional defect: more than a quarter of the "German" corpus is English text.</a:t>
            </a:r>
            <a:endParaRPr lang="en-US" sz="1150" dirty="0"/>
          </a:p>
        </p:txBody>
      </p:sp>
      <p:sp>
        <p:nvSpPr>
          <p:cNvPr id="7" name="Shape 5"/>
          <p:cNvSpPr/>
          <p:nvPr/>
        </p:nvSpPr>
        <p:spPr>
          <a:xfrm>
            <a:off x="6172200" y="1737360"/>
            <a:ext cx="5440680" cy="1965960"/>
          </a:xfrm>
          <a:prstGeom prst="roundRect">
            <a:avLst>
              <a:gd name="adj" fmla="val 3721"/>
            </a:avLst>
          </a:prstGeom>
          <a:solidFill>
            <a:srgbClr val="F4F6FB"/>
          </a:solidFill>
          <a:ln w="12700">
            <a:solidFill>
              <a:srgbClr val="F4F6FB"/>
            </a:solidFill>
            <a:prstDash val="solid"/>
          </a:ln>
        </p:spPr>
      </p:sp>
      <p:sp>
        <p:nvSpPr>
          <p:cNvPr id="8" name="Text 6"/>
          <p:cNvSpPr/>
          <p:nvPr/>
        </p:nvSpPr>
        <p:spPr>
          <a:xfrm>
            <a:off x="6355080" y="1847088"/>
            <a:ext cx="5074920" cy="292608"/>
          </a:xfrm>
          <a:prstGeom prst="rect">
            <a:avLst/>
          </a:prstGeom>
          <a:noFill/>
          <a:ln/>
        </p:spPr>
        <p:txBody>
          <a:bodyPr wrap="square" lIns="0" tIns="0" rIns="0" bIns="0" rtlCol="0" anchor="ctr"/>
          <a:lstStyle/>
          <a:p>
            <a:pPr indent="0" marL="0">
              <a:buNone/>
            </a:pPr>
            <a:r>
              <a:rPr lang="en-US" sz="1400" b="1" dirty="0">
                <a:solidFill>
                  <a:srgbClr val="16203F"/>
                </a:solidFill>
                <a:latin typeface="Calibri" pitchFamily="34" charset="0"/>
                <a:ea typeface="Calibri" pitchFamily="34" charset="-122"/>
                <a:cs typeface="Calibri" pitchFamily="34" charset="-120"/>
              </a:rPr>
              <a:t>Urgency is concentrated, not where volume is</a:t>
            </a:r>
            <a:endParaRPr lang="en-US" sz="1400" dirty="0"/>
          </a:p>
        </p:txBody>
      </p:sp>
      <p:sp>
        <p:nvSpPr>
          <p:cNvPr id="9" name="Text 7"/>
          <p:cNvSpPr/>
          <p:nvPr/>
        </p:nvSpPr>
        <p:spPr>
          <a:xfrm>
            <a:off x="6355080" y="2212848"/>
            <a:ext cx="5074920" cy="1371600"/>
          </a:xfrm>
          <a:prstGeom prst="rect">
            <a:avLst/>
          </a:prstGeom>
          <a:noFill/>
          <a:ln/>
        </p:spPr>
        <p:txBody>
          <a:bodyPr wrap="square" lIns="0" tIns="0" rIns="0" bIns="0" rtlCol="0" anchor="ctr"/>
          <a:lstStyle/>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Service Outages is 4.0% of volume but 71.0% high priority.</a:t>
            </a:r>
            <a:endParaRPr lang="en-US" sz="1150" dirty="0"/>
          </a:p>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Human Resources is 9.5%.</a:t>
            </a:r>
            <a:endParaRPr lang="en-US" sz="1150" dirty="0"/>
          </a:p>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Staffing to ticket volume would badly under-resource the outage queue.</a:t>
            </a:r>
            <a:endParaRPr lang="en-US" sz="1150" dirty="0"/>
          </a:p>
        </p:txBody>
      </p:sp>
      <p:graphicFrame>
        <p:nvGraphicFramePr>
          <p:cNvPr id="10" name="Chart 0" descr=""/>
          <p:cNvGraphicFramePr/>
          <p:nvPr/>
        </p:nvGraphicFramePr>
        <p:xfrm>
          <a:off x="502920" y="3840480"/>
          <a:ext cx="11155680" cy="2148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Trade-offs we made deliberately</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And the one we would change first</a:t>
            </a:r>
            <a:endParaRPr lang="en-US" sz="1400" dirty="0"/>
          </a:p>
        </p:txBody>
      </p:sp>
      <p:sp>
        <p:nvSpPr>
          <p:cNvPr id="4" name="Text 2"/>
          <p:cNvSpPr/>
          <p:nvPr/>
        </p:nvSpPr>
        <p:spPr>
          <a:xfrm>
            <a:off x="548640" y="178308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Pure-Python core, Spark as a thin wrapper</a:t>
            </a:r>
            <a:endParaRPr lang="en-US" sz="1350" dirty="0"/>
          </a:p>
        </p:txBody>
      </p:sp>
      <p:sp>
        <p:nvSpPr>
          <p:cNvPr id="5" name="Text 3"/>
          <p:cNvSpPr/>
          <p:nvPr/>
        </p:nvSpPr>
        <p:spPr>
          <a:xfrm>
            <a:off x="548640" y="205740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Every transformation is a pure function; UDFs call them. This is what makes 80 unit tests meaningful and lets the whole pipeline run without Spark. Cost: a second native implementation of the KPIs, cross-checked automatically.</a:t>
            </a:r>
            <a:endParaRPr lang="en-US" sz="1100" dirty="0"/>
          </a:p>
        </p:txBody>
      </p:sp>
      <p:sp>
        <p:nvSpPr>
          <p:cNvPr id="6" name="Text 4"/>
          <p:cNvSpPr/>
          <p:nvPr/>
        </p:nvSpPr>
        <p:spPr>
          <a:xfrm>
            <a:off x="548640" y="274320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At-least-once + idempotent sinks</a:t>
            </a:r>
            <a:endParaRPr lang="en-US" sz="1350" dirty="0"/>
          </a:p>
        </p:txBody>
      </p:sp>
      <p:sp>
        <p:nvSpPr>
          <p:cNvPr id="7" name="Text 5"/>
          <p:cNvSpPr/>
          <p:nvPr/>
        </p:nvSpPr>
        <p:spPr>
          <a:xfrm>
            <a:off x="548640" y="301752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Cheaper than transactional exactly-once, and the end state is identical because ticket_id is a content hash.</a:t>
            </a:r>
            <a:endParaRPr lang="en-US" sz="1100" dirty="0"/>
          </a:p>
        </p:txBody>
      </p:sp>
      <p:sp>
        <p:nvSpPr>
          <p:cNvPr id="8" name="Text 6"/>
          <p:cNvSpPr/>
          <p:nvPr/>
        </p:nvSpPr>
        <p:spPr>
          <a:xfrm>
            <a:off x="548640" y="370332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Exact k-NN offline, HNSW in Elasticsearch</a:t>
            </a:r>
            <a:endParaRPr lang="en-US" sz="1350" dirty="0"/>
          </a:p>
        </p:txBody>
      </p:sp>
      <p:sp>
        <p:nvSpPr>
          <p:cNvPr id="9" name="Text 7"/>
          <p:cNvSpPr/>
          <p:nvPr/>
        </p:nvSpPr>
        <p:spPr>
          <a:xfrm>
            <a:off x="548640" y="397764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At 28k documents brute force is fast and removes approximate-recall as a confound when comparing against BM25.</a:t>
            </a:r>
            <a:endParaRPr lang="en-US" sz="1100" dirty="0"/>
          </a:p>
        </p:txBody>
      </p:sp>
      <p:sp>
        <p:nvSpPr>
          <p:cNvPr id="10" name="Text 8"/>
          <p:cNvSpPr/>
          <p:nvPr/>
        </p:nvSpPr>
        <p:spPr>
          <a:xfrm>
            <a:off x="548640" y="466344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Macro-F1 reported alongside accuracy</a:t>
            </a:r>
            <a:endParaRPr lang="en-US" sz="1350" dirty="0"/>
          </a:p>
        </p:txBody>
      </p:sp>
      <p:sp>
        <p:nvSpPr>
          <p:cNvPr id="11" name="Text 9"/>
          <p:cNvSpPr/>
          <p:nvPr/>
        </p:nvSpPr>
        <p:spPr>
          <a:xfrm>
            <a:off x="548640" y="493776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With a 29.3% majority class, accuracy alone would have made the keyword rules look nearly as good as k-NN.</a:t>
            </a:r>
            <a:endParaRPr lang="en-US" sz="1100" dirty="0"/>
          </a:p>
        </p:txBody>
      </p:sp>
      <p:sp>
        <p:nvSpPr>
          <p:cNvPr id="12" name="Shape 10"/>
          <p:cNvSpPr/>
          <p:nvPr/>
        </p:nvSpPr>
        <p:spPr>
          <a:xfrm>
            <a:off x="7589520" y="1783080"/>
            <a:ext cx="4023360" cy="2286000"/>
          </a:xfrm>
          <a:prstGeom prst="roundRect">
            <a:avLst>
              <a:gd name="adj" fmla="val 3200"/>
            </a:avLst>
          </a:prstGeom>
          <a:solidFill>
            <a:srgbClr val="C1443C"/>
          </a:solidFill>
          <a:ln w="12700">
            <a:solidFill>
              <a:srgbClr val="C1443C"/>
            </a:solidFill>
            <a:prstDash val="solid"/>
          </a:ln>
        </p:spPr>
      </p:sp>
      <p:sp>
        <p:nvSpPr>
          <p:cNvPr id="13" name="Text 11"/>
          <p:cNvSpPr/>
          <p:nvPr/>
        </p:nvSpPr>
        <p:spPr>
          <a:xfrm>
            <a:off x="7772400" y="1901952"/>
            <a:ext cx="365760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Weakest link</a:t>
            </a:r>
            <a:endParaRPr lang="en-US" sz="1400" dirty="0"/>
          </a:p>
        </p:txBody>
      </p:sp>
      <p:sp>
        <p:nvSpPr>
          <p:cNvPr id="14" name="Text 12"/>
          <p:cNvSpPr/>
          <p:nvPr/>
        </p:nvSpPr>
        <p:spPr>
          <a:xfrm>
            <a:off x="7772400" y="2286000"/>
            <a:ext cx="3657600" cy="169164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The proxy relevance metric. Shared tags reward topical similarity — right for routing and deduplication — but they under-credit a system that retrieves a solution phrased differently from the problem. Human judgements on a few hundred queries is the honest fix, and the first thing we would add.</a:t>
            </a:r>
            <a:endParaRPr lang="en-US" sz="1100" dirty="0"/>
          </a:p>
        </p:txBody>
      </p:sp>
      <p:sp>
        <p:nvSpPr>
          <p:cNvPr id="15" name="Shape 13"/>
          <p:cNvSpPr/>
          <p:nvPr/>
        </p:nvSpPr>
        <p:spPr>
          <a:xfrm>
            <a:off x="7589520" y="4297680"/>
            <a:ext cx="4023360" cy="1417320"/>
          </a:xfrm>
          <a:prstGeom prst="roundRect">
            <a:avLst>
              <a:gd name="adj" fmla="val 5161"/>
            </a:avLst>
          </a:prstGeom>
          <a:solidFill>
            <a:srgbClr val="F4F6FB"/>
          </a:solidFill>
          <a:ln w="12700">
            <a:solidFill>
              <a:srgbClr val="F4F6FB"/>
            </a:solidFill>
            <a:prstDash val="solid"/>
          </a:ln>
        </p:spPr>
      </p:sp>
      <p:sp>
        <p:nvSpPr>
          <p:cNvPr id="16" name="Text 14"/>
          <p:cNvSpPr/>
          <p:nvPr/>
        </p:nvSpPr>
        <p:spPr>
          <a:xfrm>
            <a:off x="7772400" y="4407408"/>
            <a:ext cx="3657600" cy="274320"/>
          </a:xfrm>
          <a:prstGeom prst="rect">
            <a:avLst/>
          </a:prstGeom>
          <a:noFill/>
          <a:ln/>
        </p:spPr>
        <p:txBody>
          <a:bodyPr wrap="square" lIns="0" tIns="0" rIns="0" bIns="0" rtlCol="0" anchor="ctr"/>
          <a:lstStyle/>
          <a:p>
            <a:pPr indent="0" marL="0">
              <a:buNone/>
            </a:pPr>
            <a:r>
              <a:rPr lang="en-US" sz="1300" b="1" dirty="0">
                <a:solidFill>
                  <a:srgbClr val="16203F"/>
                </a:solidFill>
                <a:latin typeface="Calibri" pitchFamily="34" charset="0"/>
                <a:ea typeface="Calibri" pitchFamily="34" charset="-122"/>
                <a:cs typeface="Calibri" pitchFamily="34" charset="-120"/>
              </a:rPr>
              <a:t>Honest scope</a:t>
            </a:r>
            <a:endParaRPr lang="en-US" sz="1300" dirty="0"/>
          </a:p>
        </p:txBody>
      </p:sp>
      <p:sp>
        <p:nvSpPr>
          <p:cNvPr id="17" name="Text 15"/>
          <p:cNvSpPr/>
          <p:nvPr/>
        </p:nvSpPr>
        <p:spPr>
          <a:xfrm>
            <a:off x="7772400" y="4709160"/>
            <a:ext cx="3657600" cy="914400"/>
          </a:xfrm>
          <a:prstGeom prst="rect">
            <a:avLst/>
          </a:prstGeom>
          <a:noFill/>
          <a:ln/>
        </p:spPr>
        <p:txBody>
          <a:bodyPr wrap="square" lIns="0" tIns="0" rIns="0" bIns="0" rtlCol="0" anchor="ctr"/>
          <a:lstStyle/>
          <a:p>
            <a:pPr indent="0" marL="0">
              <a:buNone/>
            </a:pPr>
            <a:r>
              <a:rPr lang="en-US" sz="1050" dirty="0">
                <a:solidFill>
                  <a:srgbClr val="5A6485"/>
                </a:solidFill>
                <a:latin typeface="Calibri" pitchFamily="34" charset="0"/>
                <a:ea typeface="Calibri" pitchFamily="34" charset="-122"/>
                <a:cs typeface="Calibri" pitchFamily="34" charset="-120"/>
              </a:rPr>
              <a:t>80 unit tests pass and the pipeline ran end to end over all 28,587 rows. The Docker stack, the Spark jobs and the neural backend were not executed in the build environment — documented in the README.</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85800"/>
            <a:ext cx="10515600" cy="6400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Demo</a:t>
            </a:r>
            <a:endParaRPr lang="en-US" sz="3800" dirty="0"/>
          </a:p>
        </p:txBody>
      </p:sp>
      <p:sp>
        <p:nvSpPr>
          <p:cNvPr id="3" name="Text 1"/>
          <p:cNvSpPr/>
          <p:nvPr/>
        </p:nvSpPr>
        <p:spPr>
          <a:xfrm>
            <a:off x="822960" y="1554480"/>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GET /compare?q=…</a:t>
            </a:r>
            <a:endParaRPr lang="en-US" sz="1500" dirty="0"/>
          </a:p>
        </p:txBody>
      </p:sp>
      <p:sp>
        <p:nvSpPr>
          <p:cNvPr id="4" name="Text 2"/>
          <p:cNvSpPr/>
          <p:nvPr/>
        </p:nvSpPr>
        <p:spPr>
          <a:xfrm>
            <a:off x="822960" y="1847088"/>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One query, three rankings side by side — semantic, BM25 and hybrid. The clearest way to see what each retrieval mode actually does.</a:t>
            </a:r>
            <a:endParaRPr lang="en-US" sz="1250" dirty="0"/>
          </a:p>
        </p:txBody>
      </p:sp>
      <p:sp>
        <p:nvSpPr>
          <p:cNvPr id="5" name="Text 3"/>
          <p:cNvSpPr/>
          <p:nvPr/>
        </p:nvSpPr>
        <p:spPr>
          <a:xfrm>
            <a:off x="822960" y="2450592"/>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POST /route</a:t>
            </a:r>
            <a:endParaRPr lang="en-US" sz="1500" dirty="0"/>
          </a:p>
        </p:txBody>
      </p:sp>
      <p:sp>
        <p:nvSpPr>
          <p:cNvPr id="6" name="Text 4"/>
          <p:cNvSpPr/>
          <p:nvPr/>
        </p:nvSpPr>
        <p:spPr>
          <a:xfrm>
            <a:off x="822960" y="2743200"/>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Paste an unseen ticket. Returns the rule-based guess and the k-NN guess with its nearest neighbours, so the improvement is visible per request.</a:t>
            </a:r>
            <a:endParaRPr lang="en-US" sz="1250" dirty="0"/>
          </a:p>
        </p:txBody>
      </p:sp>
      <p:sp>
        <p:nvSpPr>
          <p:cNvPr id="7" name="Text 5"/>
          <p:cNvSpPr/>
          <p:nvPr/>
        </p:nvSpPr>
        <p:spPr>
          <a:xfrm>
            <a:off x="822960" y="3346704"/>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POST /ask</a:t>
            </a:r>
            <a:endParaRPr lang="en-US" sz="1500" dirty="0"/>
          </a:p>
        </p:txBody>
      </p:sp>
      <p:sp>
        <p:nvSpPr>
          <p:cNvPr id="8" name="Text 6"/>
          <p:cNvSpPr/>
          <p:nvPr/>
        </p:nvSpPr>
        <p:spPr>
          <a:xfrm>
            <a:off x="822960" y="3639312"/>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RAG over the corpus. Answers only from retrieved tickets; invented citations are stripped before you see them.</a:t>
            </a:r>
            <a:endParaRPr lang="en-US" sz="1250" dirty="0"/>
          </a:p>
        </p:txBody>
      </p:sp>
      <p:sp>
        <p:nvSpPr>
          <p:cNvPr id="9" name="Text 7"/>
          <p:cNvSpPr/>
          <p:nvPr/>
        </p:nvSpPr>
        <p:spPr>
          <a:xfrm>
            <a:off x="822960" y="4242816"/>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Kibana</a:t>
            </a:r>
            <a:endParaRPr lang="en-US" sz="1500" dirty="0"/>
          </a:p>
        </p:txBody>
      </p:sp>
      <p:sp>
        <p:nvSpPr>
          <p:cNvPr id="10" name="Text 8"/>
          <p:cNvSpPr/>
          <p:nvPr/>
        </p:nvSpPr>
        <p:spPr>
          <a:xfrm>
            <a:off x="822960" y="4535424"/>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KPI dashboards over the gold layer — queue volumes, sentiment, high-priority concentration.</a:t>
            </a:r>
            <a:endParaRPr lang="en-US" sz="1250" dirty="0"/>
          </a:p>
        </p:txBody>
      </p:sp>
      <p:sp>
        <p:nvSpPr>
          <p:cNvPr id="11" name="Shape 9"/>
          <p:cNvSpPr/>
          <p:nvPr/>
        </p:nvSpPr>
        <p:spPr>
          <a:xfrm>
            <a:off x="822960" y="5257800"/>
            <a:ext cx="10515600" cy="45720"/>
          </a:xfrm>
          <a:prstGeom prst="roundRect">
            <a:avLst/>
          </a:prstGeom>
          <a:solidFill>
            <a:srgbClr val="E8A33D"/>
          </a:solidFill>
          <a:ln w="12700">
            <a:solidFill>
              <a:srgbClr val="E8A33D"/>
            </a:solidFill>
            <a:prstDash val="solid"/>
          </a:ln>
        </p:spPr>
      </p:sp>
      <p:sp>
        <p:nvSpPr>
          <p:cNvPr id="12" name="Text 10"/>
          <p:cNvSpPr/>
          <p:nvPr/>
        </p:nvSpPr>
        <p:spPr>
          <a:xfrm>
            <a:off x="822960" y="5486400"/>
            <a:ext cx="10515600" cy="457200"/>
          </a:xfrm>
          <a:prstGeom prst="rect">
            <a:avLst/>
          </a:prstGeom>
          <a:noFill/>
          <a:ln/>
        </p:spPr>
        <p:txBody>
          <a:bodyPr wrap="square" lIns="0" tIns="0" rIns="0" bIns="0" rtlCol="0" anchor="ctr"/>
          <a:lstStyle/>
          <a:p>
            <a:pPr indent="0" marL="0">
              <a:buNone/>
            </a:pPr>
            <a:r>
              <a:rPr lang="en-US" sz="1250" i="1" dirty="0">
                <a:solidFill>
                  <a:srgbClr val="FFFFFF"/>
                </a:solidFill>
                <a:latin typeface="Calibri" pitchFamily="34" charset="0"/>
                <a:ea typeface="Calibri" pitchFamily="34" charset="-122"/>
                <a:cs typeface="Calibri" pitchFamily="34" charset="-120"/>
              </a:rPr>
              <a:t>Fallback: `python -m tickets.offline_pipeline` reproduces every number in this deck with no Docker, no API key and no network.</a:t>
            </a:r>
            <a:endParaRPr lang="en-US" sz="1250" dirty="0"/>
          </a:p>
        </p:txBody>
      </p:sp>
      <p:sp>
        <p:nvSpPr>
          <p:cNvPr id="13" name="Text 11"/>
          <p:cNvSpPr/>
          <p:nvPr/>
        </p:nvSpPr>
        <p:spPr>
          <a:xfrm>
            <a:off x="822960" y="6035040"/>
            <a:ext cx="10515600" cy="320040"/>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github.com/yaeldorin-glitch/biu-bigdata-support-tickets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Ticket Intelligence - Big Data &amp; AI</dc:title>
  <dc:subject>PptxGenJS Presentation</dc:subject>
  <dc:creator>Yael Dorin</dc:creator>
  <cp:lastModifiedBy>Yael Dorin</cp:lastModifiedBy>
  <cp:revision>1</cp:revision>
  <dcterms:created xsi:type="dcterms:W3CDTF">2026-08-16T16:42:26Z</dcterms:created>
  <dcterms:modified xsi:type="dcterms:W3CDTF">2026-08-16T16:42:26Z</dcterms:modified>
</cp:coreProperties>
</file>