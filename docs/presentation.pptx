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3F"/>
                </a:solidFill>
                <a:latin typeface="Calibri"/>
              </a:defRPr>
            </a:pPr>
            <a:r>
              <a:rPr sz="1300" b="0" i="0" u="none" strike="noStrike">
                <a:solidFill>
                  <a:srgbClr val="16203F"/>
                </a:solidFill>
                <a:latin typeface="Calibri"/>
              </a:rPr>
              <a:t>Accuracy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A6485"/>
            </a:solidFill>
            <a:effectLst/>
          </c:spPr>
          <c:invertIfNegative val="0"/>
          <c:dLbls>
            <c:numFmt formatCode="0.0&quot;%&quot;" sourceLinked="0"/>
            <c:txPr>
              <a:bodyPr/>
              <a:lstStyle/>
              <a:p>
                <a:pPr>
                  <a:defRPr b="0" i="0" strike="noStrike" sz="1200" u="none">
                    <a:solidFill>
                      <a:srgbClr val="16203F"/>
                    </a:solidFill>
                    <a:latin typeface="Calibri"/>
                  </a:defRPr>
                </a:pPr>
              </a:p>
            </c:txPr>
            <c:showLegendKey val="0"/>
            <c:showVal val="1"/>
            <c:showCatName val="0"/>
            <c:showSerName val="0"/>
            <c:showPercent val="0"/>
            <c:showBubbleSize val="0"/>
            <c:showLeaderLines val="0"/>
          </c:dLbls>
          <c:dPt>
            <c:idx val="0"/>
            <c:invertIfNegative val="0"/>
            <c:bubble3D val="0"/>
            <c:spPr>
              <a:solidFill>
                <a:srgbClr val="5A6485"/>
              </a:solidFill>
              <a:effectLst/>
            </c:spPr>
          </c:dPt>
          <c:dPt>
            <c:idx val="1"/>
            <c:invertIfNegative val="0"/>
            <c:bubble3D val="0"/>
            <c:spPr>
              <a:solidFill>
                <a:srgbClr val="5A6485"/>
              </a:solidFill>
              <a:effectLst/>
            </c:spPr>
          </c:dPt>
          <c:dPt>
            <c:idx val="2"/>
            <c:invertIfNegative val="0"/>
            <c:bubble3D val="0"/>
            <c:spPr>
              <a:solidFill>
                <a:srgbClr val="5A6485"/>
              </a:solidFill>
              <a:effectLst/>
            </c:spPr>
          </c:dPt>
          <c:dPt>
            <c:idx val="3"/>
            <c:invertIfNegative val="0"/>
            <c:bubble3D val="0"/>
            <c:spPr>
              <a:solidFill>
                <a:srgbClr val="5A6485"/>
              </a:solidFill>
              <a:effectLst/>
            </c:spPr>
          </c:dPt>
          <c:dPt>
            <c:idx val="4"/>
            <c:invertIfNegative val="0"/>
            <c:bubble3D val="0"/>
            <c:spPr>
              <a:solidFill>
                <a:srgbClr val="2A9D8F"/>
              </a:solidFill>
              <a:effectLst/>
            </c:spPr>
          </c:dPt>
          <c:cat>
            <c:multiLvlStrRef>
              <c:f>Sheet1!$A$2:$A$6</c:f>
              <c:multiLvlStrCache>
                <c:ptCount val="5"/>
                <c:lvl>
                  <c:pt idx="0">
                    <c:v>Always guess
majority class</c:v>
                  </c:pt>
                  <c:pt idx="1">
                    <c:v>Keyword rules</c:v>
                  </c:pt>
                  <c:pt idx="2">
                    <c:v>Embedding
centroid</c:v>
                  </c:pt>
                  <c:pt idx="3">
                    <c:v>Embedding k-NN
(k=5)</c:v>
                  </c:pt>
                  <c:pt idx="4">
                    <c:v>Linear SVM
word+char TF-IDF</c:v>
                  </c:pt>
                </c:lvl>
              </c:multiLvlStrCache>
            </c:multiLvlStrRef>
          </c:cat>
          <c:val>
            <c:numRef>
              <c:f>Sheet1!$B$2:$B$6</c:f>
              <c:numCache>
                <c:formatCode>General</c:formatCode>
                <c:ptCount val="5"/>
                <c:pt idx="0">
                  <c:v>29.3</c:v>
                </c:pt>
                <c:pt idx="1">
                  <c:v>27.4</c:v>
                </c:pt>
                <c:pt idx="2">
                  <c:v>22</c:v>
                </c:pt>
                <c:pt idx="3">
                  <c:v>64.6</c:v>
                </c:pt>
                <c:pt idx="4">
                  <c:v>64.8</c:v>
                </c:pt>
              </c:numCache>
            </c:numRef>
          </c:val>
        </c:ser>
        <c:dLbls>
          <c:numFmt formatCode="0.0&quot;%&quot;" sourceLinked="0"/>
          <c:txPr>
            <a:bodyPr/>
            <a:lstStyle/>
            <a:p>
              <a:pPr>
                <a:defRPr b="0" i="0" strike="noStrike" sz="1200" u="none">
                  <a:solidFill>
                    <a:srgbClr val="16203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03F"/>
                </a:solidFill>
                <a:latin typeface="Calibri"/>
              </a:defRPr>
            </a:pPr>
            <a:endParaRPr lang="en-US"/>
          </a:p>
        </c:txPr>
        <c:crossAx val="2094734552"/>
        <c:crosses val="autoZero"/>
        <c:auto val="1"/>
        <c:lblAlgn val="ctr"/>
        <c:noMultiLvlLbl val="1"/>
      </c:catAx>
      <c:valAx>
        <c:axId val="2094734552"/>
        <c:scaling>
          <c:orientation val="minMax"/>
          <c:max val="60"/>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8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precision@5</c:v>
                </c:pt>
              </c:strCache>
            </c:strRef>
          </c:tx>
          <c:spPr>
            <a:solidFill>
              <a:srgbClr val="2A9D8F"/>
            </a:solidFill>
            <a:effectLst/>
          </c:spPr>
          <c:invertIfNegative val="0"/>
          <c:dLbls>
            <c:numFmt formatCode="0.000" sourceLinked="0"/>
            <c:txPr>
              <a:bodyPr/>
              <a:lstStyle/>
              <a:p>
                <a:pPr>
                  <a:defRPr b="0" i="0" strike="noStrike" sz="1000" u="none">
                    <a:solidFill>
                      <a:srgbClr val="16203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Semantic</c:v>
                  </c:pt>
                  <c:pt idx="1">
                    <c:v>Keyword (BM25)</c:v>
                  </c:pt>
                  <c:pt idx="2">
                    <c:v>Hybrid (RRF)</c:v>
                  </c:pt>
                </c:lvl>
              </c:multiLvlStrCache>
            </c:multiLvlStrRef>
          </c:cat>
          <c:val>
            <c:numRef>
              <c:f>Sheet1!$B$2:$B$4</c:f>
              <c:numCache>
                <c:formatCode>General</c:formatCode>
                <c:ptCount val="3"/>
                <c:pt idx="0">
                  <c:v>0.744</c:v>
                </c:pt>
                <c:pt idx="1">
                  <c:v>0.728</c:v>
                </c:pt>
                <c:pt idx="2">
                  <c:v>0.758</c:v>
                </c:pt>
              </c:numCache>
            </c:numRef>
          </c:val>
        </c:ser>
        <c:ser>
          <c:idx val="1"/>
          <c:order val="1"/>
          <c:tx>
            <c:strRef>
              <c:f>Sheet1!$C$1</c:f>
              <c:strCache>
                <c:ptCount val="1"/>
                <c:pt idx="0">
                  <c:v>MRR</c:v>
                </c:pt>
              </c:strCache>
            </c:strRef>
          </c:tx>
          <c:spPr>
            <a:solidFill>
              <a:srgbClr val="1E2761"/>
            </a:solidFill>
            <a:effectLst/>
          </c:spPr>
          <c:invertIfNegative val="0"/>
          <c:dLbls>
            <c:numFmt formatCode="0.000" sourceLinked="0"/>
            <c:txPr>
              <a:bodyPr/>
              <a:lstStyle/>
              <a:p>
                <a:pPr>
                  <a:defRPr b="0" i="0" strike="noStrike" sz="1000" u="none">
                    <a:solidFill>
                      <a:srgbClr val="16203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Semantic</c:v>
                  </c:pt>
                  <c:pt idx="1">
                    <c:v>Keyword (BM25)</c:v>
                  </c:pt>
                  <c:pt idx="2">
                    <c:v>Hybrid (RRF)</c:v>
                  </c:pt>
                </c:lvl>
              </c:multiLvlStrCache>
            </c:multiLvlStrRef>
          </c:cat>
          <c:val>
            <c:numRef>
              <c:f>Sheet1!$C$2:$C$4</c:f>
              <c:numCache>
                <c:formatCode>General</c:formatCode>
                <c:ptCount val="3"/>
                <c:pt idx="0">
                  <c:v>0.835</c:v>
                </c:pt>
                <c:pt idx="1">
                  <c:v>0.859</c:v>
                </c:pt>
                <c:pt idx="2">
                  <c:v>0.876</c:v>
                </c:pt>
              </c:numCache>
            </c:numRef>
          </c:val>
        </c:ser>
        <c:dLbls>
          <c:numFmt formatCode="0.000" sourceLinked="0"/>
          <c:txPr>
            <a:bodyPr/>
            <a:lstStyle/>
            <a:p>
              <a:pPr>
                <a:defRPr b="0" i="0" strike="noStrike" sz="1000" u="none">
                  <a:solidFill>
                    <a:srgbClr val="16203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03F"/>
                </a:solidFill>
                <a:latin typeface="Calibri"/>
              </a:defRPr>
            </a:pPr>
            <a:endParaRPr lang="en-US"/>
          </a:p>
        </c:txPr>
        <c:crossAx val="2094734552"/>
        <c:crosses val="autoZero"/>
        <c:auto val="1"/>
        <c:lblAlgn val="ctr"/>
        <c:noMultiLvlLbl val="1"/>
      </c:catAx>
      <c:valAx>
        <c:axId val="2094734552"/>
        <c:scaling>
          <c:orientation val="minMax"/>
          <c:max val="1"/>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6203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03F"/>
                </a:solidFill>
                <a:latin typeface="Calibri"/>
              </a:defRPr>
            </a:pPr>
            <a:r>
              <a:rPr sz="1200" b="0" i="0" u="none" strike="noStrike">
                <a:solidFill>
                  <a:srgbClr val="16203F"/>
                </a:solidFill>
                <a:latin typeface="Calibri"/>
              </a:rPr>
              <a:t>High-priority share by queue (%)</a:t>
            </a:r>
          </a:p>
        </c:rich>
      </c:tx>
      <c:layout/>
      <c:overlay val="0"/>
    </c:title>
    <c:autoTitleDeleted val="0"/>
    <c:plotArea>
      <c:layout/>
      <c:barChart>
        <c:barDir val="bar"/>
        <c:grouping val="clustered"/>
        <c:varyColors val="0"/>
        <c:ser>
          <c:idx val="0"/>
          <c:order val="0"/>
          <c:tx>
            <c:strRef>
              <c:f>Sheet1!$B$1</c:f>
              <c:strCache>
                <c:ptCount val="1"/>
                <c:pt idx="0">
                  <c:v>High-priority share</c:v>
                </c:pt>
              </c:strCache>
            </c:strRef>
          </c:tx>
          <c:spPr>
            <a:solidFill>
              <a:srgbClr val="1E2761"/>
            </a:solidFill>
            <a:effectLst/>
          </c:spPr>
          <c:invertIfNegative val="0"/>
          <c:dLbls>
            <c:numFmt formatCode="0.0&quot;%&quot;" sourceLinked="0"/>
            <c:txPr>
              <a:bodyPr/>
              <a:lstStyle/>
              <a:p>
                <a:pPr>
                  <a:defRPr b="0" i="0" strike="noStrike" sz="1000" u="none">
                    <a:solidFill>
                      <a:srgbClr val="16203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Service Outages</c:v>
                  </c:pt>
                  <c:pt idx="1">
                    <c:v>Technical Support</c:v>
                  </c:pt>
                  <c:pt idx="2">
                    <c:v>IT Support</c:v>
                  </c:pt>
                  <c:pt idx="3">
                    <c:v>Billing</c:v>
                  </c:pt>
                  <c:pt idx="4">
                    <c:v>Product Support</c:v>
                  </c:pt>
                  <c:pt idx="5">
                    <c:v>Returns and Exchanges</c:v>
                  </c:pt>
                </c:lvl>
              </c:multiLvlStrCache>
            </c:multiLvlStrRef>
          </c:cat>
          <c:val>
            <c:numRef>
              <c:f>Sheet1!$B$2:$B$7</c:f>
              <c:numCache>
                <c:formatCode>General</c:formatCode>
                <c:ptCount val="6"/>
                <c:pt idx="0">
                  <c:v>71</c:v>
                </c:pt>
                <c:pt idx="1">
                  <c:v>58.6</c:v>
                </c:pt>
                <c:pt idx="2">
                  <c:v>48.8</c:v>
                </c:pt>
                <c:pt idx="3">
                  <c:v>30.6</c:v>
                </c:pt>
                <c:pt idx="4">
                  <c:v>29.6</c:v>
                </c:pt>
                <c:pt idx="5">
                  <c:v>21.4</c:v>
                </c:pt>
              </c:numCache>
            </c:numRef>
          </c:val>
        </c:ser>
        <c:dLbls>
          <c:numFmt formatCode="0.0&quot;%&quot;" sourceLinked="0"/>
          <c:txPr>
            <a:bodyPr/>
            <a:lstStyle/>
            <a:p>
              <a:pPr>
                <a:defRPr b="0" i="0" strike="noStrike" sz="1000" u="none">
                  <a:solidFill>
                    <a:srgbClr val="16203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6203F"/>
                </a:solidFill>
                <a:latin typeface="Calibri"/>
              </a:defRPr>
            </a:pPr>
            <a:endParaRPr lang="en-US"/>
          </a:p>
        </c:txPr>
        <c:crossAx val="2094734552"/>
        <c:crosses val="autoZero"/>
        <c:auto val="1"/>
        <c:lblAlgn val="ctr"/>
        <c:noMultiLvlLbl val="1"/>
      </c:catAx>
      <c:valAx>
        <c:axId val="2094734552"/>
        <c:scaling>
          <c:orientation val="minMax"/>
          <c:max val="80"/>
        </c:scaling>
        <c:delete val="0"/>
        <c:axPos val="b"/>
        <c:majorGridlines>
          <c:spPr>
            <a:ln w="12700" cap="flat">
              <a:solidFill>
                <a:srgbClr val="E4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8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question: given only the free text of an incoming ticket, which support queue should it go to, and what similar tickets have we already solved? Both are text-understanding problems, which is why they resist the SQL-shaped tooling that handles the rest of a support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clean tabular data alone is not sufficient. This dataset qualifies twice over: three free-text fields, and a genuinely ragged tag structure that has to be normalised into an array before anything can use it. Note the 29.3% majority class — it is the baseline every result on the next slides is measured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Medallion layout: bronze is raw and never rewritten, so when enrichment logic changes — and it changed four times while building this — we replay from bronze rather than from Kafka, whose retention is finite. Be ready for the question 'why not exactly-once': Spark's exactly-once needs a transactional sink; we get the same end state more cheaply by making the sinks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about two backends is robustness: with LLM_PROVIDER=none and no model weights the pipeline still produces every number in this deck. That is deliberate — the demo cannot be broken by a failed download. On guardrails: asking a model to cite only what it was given is a prompt, not a guarantee, so we post-check every citation and strip the invented ones. If asked about a fourth option: ai/llm.py also implements LLM-based enrichment (option a) against a real provider, but it was never exercised — every run reported here used LLM_PROVIDER=none, so it took the rule-based fallback, not a live model. The code exists; the capability was never actually run, so it isn't claimed as one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The k-NN classifier trains nothing — it reuses the embeddings that already exist for semantic search, which is the cheapest possible route from 'we have vectors' to 'we have business value'. If asked why macro-F1 is so much lower than accuracy: the queue distribution is heavily skewed, from 29% Technical Support down to 1.4% General Inquiry, and macro-F1 weights every class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It is the one that shows understanding rather than just a working system. The honest position is: our design predicted semantic would win, it did not under the backend we could actually run, and we can explain exactly why. Reproducing the neural comparison is one environment variable — EMBEDDING_BACKEND=sentence-transformers — and one pipeline re-run. On the cross-lingual result: the first probe we wrote was unfair by construction (mixed-language pool, dominated by the 12,249 German tickets), we caught that ourselves, fixed it with a language-filtered evaluation, and the corrected number is a real positive result, not just a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finding is the one to lead with in questions. An 11.7% overall mismatch sounds like uniform noise; splitting it by declared language shows it is almost entirely on the German side, which points at a specific upstream defect rather than detector error. Anything keyed off that field — canned replies, language-based routing — is misfiring on those rows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what was and was not verified is worth more marks than glossing over it, and it is the honest answer if an examiner asks 'did you actually run this end to end on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the demo with /compare — it makes the difference between lexical and semantic matching visible on one screen, which no amount of describing it does. Keep the offline runner ready as the fallback if a container misbehaves; it produces the same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874520"/>
            <a:ext cx="10515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Ticket Intelligence</a:t>
            </a:r>
            <a:endParaRPr lang="en-US" sz="5400" dirty="0"/>
          </a:p>
        </p:txBody>
      </p:sp>
      <p:sp>
        <p:nvSpPr>
          <p:cNvPr id="3" name="Text 1"/>
          <p:cNvSpPr/>
          <p:nvPr/>
        </p:nvSpPr>
        <p:spPr>
          <a:xfrm>
            <a:off x="822960" y="2788920"/>
            <a:ext cx="1051560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Streaming ELT and semantic search over 28,587 support tickets</a:t>
            </a:r>
            <a:endParaRPr lang="en-US" sz="2000" dirty="0"/>
          </a:p>
        </p:txBody>
      </p:sp>
      <p:sp>
        <p:nvSpPr>
          <p:cNvPr id="4" name="Shape 2"/>
          <p:cNvSpPr/>
          <p:nvPr/>
        </p:nvSpPr>
        <p:spPr>
          <a:xfrm>
            <a:off x="822960" y="3657600"/>
            <a:ext cx="4754880" cy="45720"/>
          </a:xfrm>
          <a:prstGeom prst="roundRect">
            <a:avLst/>
          </a:prstGeom>
          <a:solidFill>
            <a:srgbClr val="E8A33D"/>
          </a:solidFill>
          <a:ln w="12700">
            <a:solidFill>
              <a:srgbClr val="E8A33D"/>
            </a:solidFill>
            <a:prstDash val="solid"/>
          </a:ln>
        </p:spPr>
      </p:sp>
      <p:sp>
        <p:nvSpPr>
          <p:cNvPr id="5" name="Text 3"/>
          <p:cNvSpPr/>
          <p:nvPr/>
        </p:nvSpPr>
        <p:spPr>
          <a:xfrm>
            <a:off x="822960" y="3931920"/>
            <a:ext cx="10515600" cy="822960"/>
          </a:xfrm>
          <a:prstGeom prst="rect">
            <a:avLst/>
          </a:prstGeom>
          <a:noFill/>
          <a:ln/>
        </p:spPr>
        <p:txBody>
          <a:bodyPr wrap="square" lIns="0" tIns="0" rIns="0" bIns="0" rtlCol="0" anchor="ctr"/>
          <a:lstStyle/>
          <a:p>
            <a:pPr indent="0" marL="0">
              <a:lnSpc>
                <a:spcPts val="2200"/>
              </a:lnSpc>
              <a:buNone/>
            </a:pPr>
            <a:r>
              <a:rPr lang="en-US" sz="1400" dirty="0">
                <a:solidFill>
                  <a:srgbClr val="CADCFC"/>
                </a:solidFill>
                <a:latin typeface="Calibri" pitchFamily="34" charset="0"/>
                <a:ea typeface="Calibri" pitchFamily="34" charset="-122"/>
                <a:cs typeface="Calibri" pitchFamily="34" charset="-120"/>
              </a:rPr>
              <a:t>Kafka  ·  Spark Structured Streaming  ·  MinIO  ·  Elasticsearch</a:t>
            </a:r>
            <a:endParaRPr lang="en-US" sz="1400" dirty="0"/>
          </a:p>
          <a:p>
            <a:pPr indent="0" marL="0">
              <a:lnSpc>
                <a:spcPts val="2200"/>
              </a:lnSpc>
              <a:buNone/>
            </a:pPr>
            <a:r>
              <a:rPr lang="en-US" sz="1400" dirty="0">
                <a:solidFill>
                  <a:srgbClr val="CADCFC"/>
                </a:solidFill>
                <a:latin typeface="Calibri" pitchFamily="34" charset="0"/>
                <a:ea typeface="Calibri" pitchFamily="34" charset="-122"/>
                <a:cs typeface="Calibri" pitchFamily="34" charset="-120"/>
              </a:rPr>
              <a:t>AI capability: embeddings + semantic search, RAG, k-NN routing</a:t>
            </a:r>
            <a:endParaRPr lang="en-US" sz="1400" dirty="0"/>
          </a:p>
        </p:txBody>
      </p:sp>
      <p:sp>
        <p:nvSpPr>
          <p:cNvPr id="6" name="Text 4"/>
          <p:cNvSpPr/>
          <p:nvPr/>
        </p:nvSpPr>
        <p:spPr>
          <a:xfrm>
            <a:off x="822960" y="5852160"/>
            <a:ext cx="10515600" cy="365760"/>
          </a:xfrm>
          <a:prstGeom prst="rect">
            <a:avLst/>
          </a:prstGeom>
          <a:noFill/>
          <a:ln/>
        </p:spPr>
        <p:txBody>
          <a:bodyPr wrap="square" lIns="0" tIns="0" rIns="0" bIns="0" rtlCol="0" anchor="ctr"/>
          <a:lstStyle/>
          <a:p>
            <a:pPr indent="0" marL="0">
              <a:buNone/>
            </a:pPr>
            <a:r>
              <a:rPr lang="en-US" sz="1200" dirty="0">
                <a:solidFill>
                  <a:srgbClr val="5A6485"/>
                </a:solidFill>
                <a:latin typeface="Calibri" pitchFamily="34" charset="0"/>
                <a:ea typeface="Calibri" pitchFamily="34" charset="-122"/>
                <a:cs typeface="Calibri" pitchFamily="34" charset="-120"/>
              </a:rPr>
              <a:t>BIU 8688697201 — Big Data and AI  |  Yael Cohen, Itay Nuri, Yahel Menachem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6203F"/>
                </a:solidFill>
                <a:latin typeface="Cambria" pitchFamily="34" charset="0"/>
                <a:ea typeface="Cambria" pitchFamily="34" charset="-122"/>
                <a:cs typeface="Cambria" pitchFamily="34" charset="-120"/>
              </a:rPr>
              <a:t>The problem, and why this dataset</a:t>
            </a:r>
            <a:endParaRPr lang="en-US" sz="3400" dirty="0"/>
          </a:p>
        </p:txBody>
      </p:sp>
      <p:sp>
        <p:nvSpPr>
          <p:cNvPr id="3" name="Text 1"/>
          <p:cNvSpPr/>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5A6485"/>
                </a:solidFill>
                <a:latin typeface="Calibri" pitchFamily="34" charset="0"/>
                <a:ea typeface="Calibri" pitchFamily="34" charset="-122"/>
                <a:cs typeface="Calibri" pitchFamily="34" charset="-120"/>
              </a:rPr>
              <a:t>Customer IT Support Ticket Dataset — Tobias Bueck, CC BY-NC 4.0</a:t>
            </a:r>
            <a:endParaRPr lang="en-US" sz="1400" dirty="0"/>
          </a:p>
        </p:txBody>
      </p:sp>
      <p:sp>
        <p:nvSpPr>
          <p:cNvPr id="4" name="Text 2"/>
          <p:cNvSpPr/>
          <p:nvPr/>
        </p:nvSpPr>
        <p:spPr>
          <a:xfrm>
            <a:off x="548640" y="1691640"/>
            <a:ext cx="6583680" cy="4023360"/>
          </a:xfrm>
          <a:prstGeom prst="rect">
            <a:avLst/>
          </a:prstGeom>
          <a:noFill/>
          <a:ln/>
        </p:spPr>
        <p:txBody>
          <a:bodyPr wrap="square" lIns="0" tIns="0" rIns="0" bIns="0" rtlCol="0" anchor="ctr"/>
          <a:lstStyle/>
          <a:p>
            <a:pPr indent="0" marL="0">
              <a:spcAft>
                <a:spcPts val="700"/>
              </a:spcAft>
              <a:buNone/>
            </a:pPr>
            <a:r>
              <a:rPr lang="en-US" sz="1500" b="1" dirty="0">
                <a:solidFill>
                  <a:srgbClr val="16203F"/>
                </a:solidFill>
                <a:latin typeface="Calibri" pitchFamily="34" charset="0"/>
                <a:ea typeface="Calibri" pitchFamily="34" charset="-122"/>
                <a:cs typeface="Calibri" pitchFamily="34" charset="-120"/>
              </a:rPr>
              <a:t>Two costs in every support organisation</a:t>
            </a:r>
            <a:endParaRPr lang="en-US" sz="1300" dirty="0"/>
          </a:p>
          <a:p>
            <a:pPr marL="342900" indent="-342900">
              <a:spcAft>
                <a:spcPts val="700"/>
              </a:spcAft>
              <a:buSzPct val="100000"/>
              <a:buChar char="•"/>
            </a:pPr>
            <a:r>
              <a:rPr lang="en-US" sz="1300" dirty="0">
                <a:solidFill>
                  <a:srgbClr val="16203F"/>
                </a:solidFill>
                <a:latin typeface="Calibri" pitchFamily="34" charset="0"/>
                <a:ea typeface="Calibri" pitchFamily="34" charset="-122"/>
                <a:cs typeface="Calibri" pitchFamily="34" charset="-120"/>
              </a:rPr>
              <a:t>Someone must route each free-text ticket to the right queue.</a:t>
            </a:r>
            <a:endParaRPr lang="en-US" sz="1300" dirty="0"/>
          </a:p>
          <a:p>
            <a:pPr marL="342900" indent="-342900">
              <a:spcAft>
                <a:spcPts val="700"/>
              </a:spcAft>
              <a:buSzPct val="100000"/>
              <a:buChar char="•"/>
            </a:pPr>
            <a:r>
              <a:rPr lang="en-US" sz="1300" dirty="0">
                <a:solidFill>
                  <a:srgbClr val="16203F"/>
                </a:solidFill>
                <a:latin typeface="Calibri" pitchFamily="34" charset="0"/>
                <a:ea typeface="Calibri" pitchFamily="34" charset="-122"/>
                <a:cs typeface="Calibri" pitchFamily="34" charset="-120"/>
              </a:rPr>
              <a:t>Agents re-solve problems the organisation already solved.</a:t>
            </a:r>
            <a:endParaRPr lang="en-US" sz="1300" dirty="0"/>
          </a:p>
          <a:p>
            <a:pPr indent="0" marL="0">
              <a:spcAft>
                <a:spcPts val="700"/>
              </a:spcAft>
              <a:buNone/>
            </a:pPr>
            <a:r>
              <a:rPr lang="en-US" sz="1300" dirty="0">
                <a:solidFill>
                  <a:srgbClr val="16203F"/>
                </a:solidFill>
                <a:latin typeface="Calibri" pitchFamily="34" charset="0"/>
                <a:ea typeface="Calibri" pitchFamily="34" charset="-122"/>
                <a:cs typeface="Calibri" pitchFamily="34" charset="-120"/>
              </a:rPr>
              <a:t> </a:t>
            </a:r>
            <a:endParaRPr lang="en-US" sz="1300" dirty="0"/>
          </a:p>
          <a:p>
            <a:pPr indent="0" marL="0">
              <a:spcAft>
                <a:spcPts val="700"/>
              </a:spcAft>
              <a:buNone/>
            </a:pPr>
            <a:r>
              <a:rPr lang="en-US" sz="1500" b="1" dirty="0">
                <a:solidFill>
                  <a:srgbClr val="16203F"/>
                </a:solidFill>
                <a:latin typeface="Calibri" pitchFamily="34" charset="0"/>
                <a:ea typeface="Calibri" pitchFamily="34" charset="-122"/>
                <a:cs typeface="Calibri" pitchFamily="34" charset="-120"/>
              </a:rPr>
              <a:t>Why it qualifies as semi-structured</a:t>
            </a:r>
            <a:endParaRPr lang="en-US" sz="1300" dirty="0"/>
          </a:p>
          <a:p>
            <a:pPr marL="342900" indent="-342900">
              <a:spcAft>
                <a:spcPts val="700"/>
              </a:spcAft>
              <a:buSzPct val="100000"/>
              <a:buChar char="•"/>
            </a:pPr>
            <a:r>
              <a:rPr lang="en-US" sz="1300" dirty="0">
                <a:solidFill>
                  <a:srgbClr val="16203F"/>
                </a:solidFill>
                <a:latin typeface="Calibri" pitchFamily="34" charset="0"/>
                <a:ea typeface="Calibri" pitchFamily="34" charset="-122"/>
                <a:cs typeface="Calibri" pitchFamily="34" charset="-120"/>
              </a:rPr>
              <a:t>subject / body / answer are natural language, averaging 387 characters.</a:t>
            </a:r>
            <a:endParaRPr lang="en-US" sz="1300" dirty="0"/>
          </a:p>
          <a:p>
            <a:pPr marL="342900" indent="-342900">
              <a:spcAft>
                <a:spcPts val="700"/>
              </a:spcAft>
              <a:buSzPct val="100000"/>
              <a:buChar char="•"/>
            </a:pPr>
            <a:r>
              <a:rPr lang="en-US" sz="1300" dirty="0">
                <a:solidFill>
                  <a:srgbClr val="16203F"/>
                </a:solidFill>
                <a:latin typeface="Calibri" pitchFamily="34" charset="0"/>
                <a:ea typeface="Calibri" pitchFamily="34" charset="-122"/>
                <a:cs typeface="Calibri" pitchFamily="34" charset="-120"/>
              </a:rPr>
              <a:t>tag_1…tag_8 is a ragged list of 1,255 values flattened into sparse columns — 98% null by tag_8.</a:t>
            </a:r>
            <a:endParaRPr lang="en-US" sz="1300" dirty="0"/>
          </a:p>
          <a:p>
            <a:pPr marL="342900" indent="-342900">
              <a:spcAft>
                <a:spcPts val="700"/>
              </a:spcAft>
              <a:buSzPct val="100000"/>
              <a:buChar char="•"/>
            </a:pPr>
            <a:r>
              <a:rPr lang="en-US" sz="1300" dirty="0">
                <a:solidFill>
                  <a:srgbClr val="16203F"/>
                </a:solidFill>
                <a:latin typeface="Calibri" pitchFamily="34" charset="0"/>
                <a:ea typeface="Calibri" pitchFamily="34" charset="-122"/>
                <a:cs typeface="Calibri" pitchFamily="34" charset="-120"/>
              </a:rPr>
              <a:t>subject itself is null in 13.4% of rows. That is data, not an error.</a:t>
            </a:r>
            <a:endParaRPr lang="en-US" sz="1300" dirty="0"/>
          </a:p>
        </p:txBody>
      </p:sp>
      <p:sp>
        <p:nvSpPr>
          <p:cNvPr id="5" name="Shape 3"/>
          <p:cNvSpPr/>
          <p:nvPr/>
        </p:nvSpPr>
        <p:spPr>
          <a:xfrm>
            <a:off x="7498080" y="1691640"/>
            <a:ext cx="2103120" cy="1417320"/>
          </a:xfrm>
          <a:prstGeom prst="roundRect">
            <a:avLst>
              <a:gd name="adj" fmla="val 5161"/>
            </a:avLst>
          </a:prstGeom>
          <a:solidFill>
            <a:srgbClr val="F4F6FB"/>
          </a:solidFill>
          <a:ln w="12700">
            <a:solidFill>
              <a:srgbClr val="F4F6FB"/>
            </a:solidFill>
            <a:prstDash val="solid"/>
          </a:ln>
        </p:spPr>
      </p:sp>
      <p:sp>
        <p:nvSpPr>
          <p:cNvPr id="6" name="Text 4"/>
          <p:cNvSpPr/>
          <p:nvPr/>
        </p:nvSpPr>
        <p:spPr>
          <a:xfrm>
            <a:off x="7635240" y="1837944"/>
            <a:ext cx="1828800" cy="7772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28,587</a:t>
            </a:r>
            <a:endParaRPr lang="en-US" sz="4000" dirty="0"/>
          </a:p>
        </p:txBody>
      </p:sp>
      <p:sp>
        <p:nvSpPr>
          <p:cNvPr id="7" name="Text 5"/>
          <p:cNvSpPr/>
          <p:nvPr/>
        </p:nvSpPr>
        <p:spPr>
          <a:xfrm>
            <a:off x="7635240" y="2606040"/>
            <a:ext cx="1828800" cy="292608"/>
          </a:xfrm>
          <a:prstGeom prst="rect">
            <a:avLst/>
          </a:prstGeom>
          <a:noFill/>
          <a:ln/>
        </p:spPr>
        <p:txBody>
          <a:bodyPr wrap="square" lIns="0" tIns="0" rIns="0" bIns="0" rtlCol="0" anchor="ctr"/>
          <a:lstStyle/>
          <a:p>
            <a:pPr algn="ctr" indent="0" marL="0">
              <a:buNone/>
            </a:pPr>
            <a:r>
              <a:rPr lang="en-US" sz="1250" b="1" dirty="0">
                <a:solidFill>
                  <a:srgbClr val="16203F"/>
                </a:solidFill>
                <a:latin typeface="Calibri" pitchFamily="34" charset="0"/>
                <a:ea typeface="Calibri" pitchFamily="34" charset="-122"/>
                <a:cs typeface="Calibri" pitchFamily="34" charset="-120"/>
              </a:rPr>
              <a:t>tickets</a:t>
            </a:r>
            <a:endParaRPr lang="en-US" sz="1250" dirty="0"/>
          </a:p>
        </p:txBody>
      </p:sp>
      <p:sp>
        <p:nvSpPr>
          <p:cNvPr id="8" name="Text 6"/>
          <p:cNvSpPr/>
          <p:nvPr/>
        </p:nvSpPr>
        <p:spPr>
          <a:xfrm>
            <a:off x="7635240" y="2880360"/>
            <a:ext cx="1828800" cy="457200"/>
          </a:xfrm>
          <a:prstGeom prst="rect">
            <a:avLst/>
          </a:prstGeom>
          <a:noFill/>
          <a:ln/>
        </p:spPr>
        <p:txBody>
          <a:bodyPr wrap="square" lIns="0" tIns="0" rIns="0" bIns="0" rtlCol="0" anchor="ctr"/>
          <a:lstStyle/>
          <a:p>
            <a:pPr algn="ctr" indent="0" marL="0">
              <a:buNone/>
            </a:pPr>
            <a:r>
              <a:rPr lang="en-US" sz="1050" dirty="0">
                <a:solidFill>
                  <a:srgbClr val="5A6485"/>
                </a:solidFill>
                <a:latin typeface="Calibri" pitchFamily="34" charset="0"/>
                <a:ea typeface="Calibri" pitchFamily="34" charset="-122"/>
                <a:cs typeface="Calibri" pitchFamily="34" charset="-120"/>
              </a:rPr>
              <a:t>en 57% / de 43%</a:t>
            </a:r>
            <a:endParaRPr lang="en-US" sz="1050" dirty="0"/>
          </a:p>
        </p:txBody>
      </p:sp>
      <p:sp>
        <p:nvSpPr>
          <p:cNvPr id="9" name="Shape 7"/>
          <p:cNvSpPr/>
          <p:nvPr/>
        </p:nvSpPr>
        <p:spPr>
          <a:xfrm>
            <a:off x="9784080" y="1691640"/>
            <a:ext cx="1828800" cy="1417320"/>
          </a:xfrm>
          <a:prstGeom prst="roundRect">
            <a:avLst>
              <a:gd name="adj" fmla="val 5161"/>
            </a:avLst>
          </a:prstGeom>
          <a:solidFill>
            <a:srgbClr val="F4F6FB"/>
          </a:solidFill>
          <a:ln w="12700">
            <a:solidFill>
              <a:srgbClr val="F4F6FB"/>
            </a:solidFill>
            <a:prstDash val="solid"/>
          </a:ln>
        </p:spPr>
      </p:sp>
      <p:sp>
        <p:nvSpPr>
          <p:cNvPr id="10" name="Text 8"/>
          <p:cNvSpPr/>
          <p:nvPr/>
        </p:nvSpPr>
        <p:spPr>
          <a:xfrm>
            <a:off x="9921240" y="1837944"/>
            <a:ext cx="1554480" cy="7772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10</a:t>
            </a:r>
            <a:endParaRPr lang="en-US" sz="4000" dirty="0"/>
          </a:p>
        </p:txBody>
      </p:sp>
      <p:sp>
        <p:nvSpPr>
          <p:cNvPr id="11" name="Text 9"/>
          <p:cNvSpPr/>
          <p:nvPr/>
        </p:nvSpPr>
        <p:spPr>
          <a:xfrm>
            <a:off x="9921240" y="2606040"/>
            <a:ext cx="1554480" cy="292608"/>
          </a:xfrm>
          <a:prstGeom prst="rect">
            <a:avLst/>
          </a:prstGeom>
          <a:noFill/>
          <a:ln/>
        </p:spPr>
        <p:txBody>
          <a:bodyPr wrap="square" lIns="0" tIns="0" rIns="0" bIns="0" rtlCol="0" anchor="ctr"/>
          <a:lstStyle/>
          <a:p>
            <a:pPr algn="ctr" indent="0" marL="0">
              <a:buNone/>
            </a:pPr>
            <a:r>
              <a:rPr lang="en-US" sz="1250" b="1" dirty="0">
                <a:solidFill>
                  <a:srgbClr val="16203F"/>
                </a:solidFill>
                <a:latin typeface="Calibri" pitchFamily="34" charset="0"/>
                <a:ea typeface="Calibri" pitchFamily="34" charset="-122"/>
                <a:cs typeface="Calibri" pitchFamily="34" charset="-120"/>
              </a:rPr>
              <a:t>queues</a:t>
            </a:r>
            <a:endParaRPr lang="en-US" sz="1250" dirty="0"/>
          </a:p>
        </p:txBody>
      </p:sp>
      <p:sp>
        <p:nvSpPr>
          <p:cNvPr id="12" name="Text 10"/>
          <p:cNvSpPr/>
          <p:nvPr/>
        </p:nvSpPr>
        <p:spPr>
          <a:xfrm>
            <a:off x="9921240" y="2880360"/>
            <a:ext cx="1554480" cy="457200"/>
          </a:xfrm>
          <a:prstGeom prst="rect">
            <a:avLst/>
          </a:prstGeom>
          <a:noFill/>
          <a:ln/>
        </p:spPr>
        <p:txBody>
          <a:bodyPr wrap="square" lIns="0" tIns="0" rIns="0" bIns="0" rtlCol="0" anchor="ctr"/>
          <a:lstStyle/>
          <a:p>
            <a:pPr algn="ctr" indent="0" marL="0">
              <a:buNone/>
            </a:pPr>
            <a:r>
              <a:rPr lang="en-US" sz="1050" dirty="0">
                <a:solidFill>
                  <a:srgbClr val="5A6485"/>
                </a:solidFill>
                <a:latin typeface="Calibri" pitchFamily="34" charset="0"/>
                <a:ea typeface="Calibri" pitchFamily="34" charset="-122"/>
                <a:cs typeface="Calibri" pitchFamily="34" charset="-120"/>
              </a:rPr>
              <a:t>the routing label</a:t>
            </a:r>
            <a:endParaRPr lang="en-US" sz="1050" dirty="0"/>
          </a:p>
        </p:txBody>
      </p:sp>
      <p:sp>
        <p:nvSpPr>
          <p:cNvPr id="13" name="Shape 11"/>
          <p:cNvSpPr/>
          <p:nvPr/>
        </p:nvSpPr>
        <p:spPr>
          <a:xfrm>
            <a:off x="7498080" y="3291840"/>
            <a:ext cx="2103120" cy="1417320"/>
          </a:xfrm>
          <a:prstGeom prst="roundRect">
            <a:avLst>
              <a:gd name="adj" fmla="val 5161"/>
            </a:avLst>
          </a:prstGeom>
          <a:solidFill>
            <a:srgbClr val="F4F6FB"/>
          </a:solidFill>
          <a:ln w="12700">
            <a:solidFill>
              <a:srgbClr val="F4F6FB"/>
            </a:solidFill>
            <a:prstDash val="solid"/>
          </a:ln>
        </p:spPr>
      </p:sp>
      <p:sp>
        <p:nvSpPr>
          <p:cNvPr id="14" name="Text 12"/>
          <p:cNvSpPr/>
          <p:nvPr/>
        </p:nvSpPr>
        <p:spPr>
          <a:xfrm>
            <a:off x="7635240" y="3438144"/>
            <a:ext cx="1828800" cy="7772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4</a:t>
            </a:r>
            <a:endParaRPr lang="en-US" sz="4000" dirty="0"/>
          </a:p>
        </p:txBody>
      </p:sp>
      <p:sp>
        <p:nvSpPr>
          <p:cNvPr id="15" name="Text 13"/>
          <p:cNvSpPr/>
          <p:nvPr/>
        </p:nvSpPr>
        <p:spPr>
          <a:xfrm>
            <a:off x="7635240" y="4206240"/>
            <a:ext cx="1828800" cy="292608"/>
          </a:xfrm>
          <a:prstGeom prst="rect">
            <a:avLst/>
          </a:prstGeom>
          <a:noFill/>
          <a:ln/>
        </p:spPr>
        <p:txBody>
          <a:bodyPr wrap="square" lIns="0" tIns="0" rIns="0" bIns="0" rtlCol="0" anchor="ctr"/>
          <a:lstStyle/>
          <a:p>
            <a:pPr algn="ctr" indent="0" marL="0">
              <a:buNone/>
            </a:pPr>
            <a:r>
              <a:rPr lang="en-US" sz="1250" b="1" dirty="0">
                <a:solidFill>
                  <a:srgbClr val="16203F"/>
                </a:solidFill>
                <a:latin typeface="Calibri" pitchFamily="34" charset="0"/>
                <a:ea typeface="Calibri" pitchFamily="34" charset="-122"/>
                <a:cs typeface="Calibri" pitchFamily="34" charset="-120"/>
              </a:rPr>
              <a:t>ticket types</a:t>
            </a:r>
            <a:endParaRPr lang="en-US" sz="1250" dirty="0"/>
          </a:p>
        </p:txBody>
      </p:sp>
      <p:sp>
        <p:nvSpPr>
          <p:cNvPr id="16" name="Text 14"/>
          <p:cNvSpPr/>
          <p:nvPr/>
        </p:nvSpPr>
        <p:spPr>
          <a:xfrm>
            <a:off x="7635240" y="4480560"/>
            <a:ext cx="1828800" cy="457200"/>
          </a:xfrm>
          <a:prstGeom prst="rect">
            <a:avLst/>
          </a:prstGeom>
          <a:noFill/>
          <a:ln/>
        </p:spPr>
        <p:txBody>
          <a:bodyPr wrap="square" lIns="0" tIns="0" rIns="0" bIns="0" rtlCol="0" anchor="ctr"/>
          <a:lstStyle/>
          <a:p>
            <a:pPr algn="ctr" indent="0" marL="0">
              <a:buNone/>
            </a:pPr>
            <a:r>
              <a:rPr lang="en-US" sz="1050" dirty="0">
                <a:solidFill>
                  <a:srgbClr val="5A6485"/>
                </a:solidFill>
                <a:latin typeface="Calibri" pitchFamily="34" charset="0"/>
                <a:ea typeface="Calibri" pitchFamily="34" charset="-122"/>
                <a:cs typeface="Calibri" pitchFamily="34" charset="-120"/>
              </a:rPr>
              <a:t>Incident · Request</a:t>
            </a:r>
            <a:endParaRPr lang="en-US" sz="1050" dirty="0"/>
          </a:p>
          <a:p>
            <a:pPr algn="ctr" indent="0" marL="0">
              <a:buNone/>
            </a:pPr>
            <a:r>
              <a:rPr lang="en-US" sz="1050" dirty="0">
                <a:solidFill>
                  <a:srgbClr val="5A6485"/>
                </a:solidFill>
                <a:latin typeface="Calibri" pitchFamily="34" charset="0"/>
                <a:ea typeface="Calibri" pitchFamily="34" charset="-122"/>
                <a:cs typeface="Calibri" pitchFamily="34" charset="-120"/>
              </a:rPr>
              <a:t>Problem · Change</a:t>
            </a:r>
            <a:endParaRPr lang="en-US" sz="1050" dirty="0"/>
          </a:p>
        </p:txBody>
      </p:sp>
      <p:sp>
        <p:nvSpPr>
          <p:cNvPr id="17" name="Shape 15"/>
          <p:cNvSpPr/>
          <p:nvPr/>
        </p:nvSpPr>
        <p:spPr>
          <a:xfrm>
            <a:off x="9784080" y="3291840"/>
            <a:ext cx="1828800" cy="1417320"/>
          </a:xfrm>
          <a:prstGeom prst="roundRect">
            <a:avLst>
              <a:gd name="adj" fmla="val 5161"/>
            </a:avLst>
          </a:prstGeom>
          <a:solidFill>
            <a:srgbClr val="F4F6FB"/>
          </a:solidFill>
          <a:ln w="12700">
            <a:solidFill>
              <a:srgbClr val="F4F6FB"/>
            </a:solidFill>
            <a:prstDash val="solid"/>
          </a:ln>
        </p:spPr>
      </p:sp>
      <p:sp>
        <p:nvSpPr>
          <p:cNvPr id="18" name="Text 16"/>
          <p:cNvSpPr/>
          <p:nvPr/>
        </p:nvSpPr>
        <p:spPr>
          <a:xfrm>
            <a:off x="9921240" y="3438144"/>
            <a:ext cx="1554480" cy="7772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1,255</a:t>
            </a:r>
            <a:endParaRPr lang="en-US" sz="4000" dirty="0"/>
          </a:p>
        </p:txBody>
      </p:sp>
      <p:sp>
        <p:nvSpPr>
          <p:cNvPr id="19" name="Text 17"/>
          <p:cNvSpPr/>
          <p:nvPr/>
        </p:nvSpPr>
        <p:spPr>
          <a:xfrm>
            <a:off x="9921240" y="4206240"/>
            <a:ext cx="1554480" cy="292608"/>
          </a:xfrm>
          <a:prstGeom prst="rect">
            <a:avLst/>
          </a:prstGeom>
          <a:noFill/>
          <a:ln/>
        </p:spPr>
        <p:txBody>
          <a:bodyPr wrap="square" lIns="0" tIns="0" rIns="0" bIns="0" rtlCol="0" anchor="ctr"/>
          <a:lstStyle/>
          <a:p>
            <a:pPr algn="ctr" indent="0" marL="0">
              <a:buNone/>
            </a:pPr>
            <a:r>
              <a:rPr lang="en-US" sz="1250" b="1" dirty="0">
                <a:solidFill>
                  <a:srgbClr val="16203F"/>
                </a:solidFill>
                <a:latin typeface="Calibri" pitchFamily="34" charset="0"/>
                <a:ea typeface="Calibri" pitchFamily="34" charset="-122"/>
                <a:cs typeface="Calibri" pitchFamily="34" charset="-120"/>
              </a:rPr>
              <a:t>distinct tags</a:t>
            </a:r>
            <a:endParaRPr lang="en-US" sz="1250" dirty="0"/>
          </a:p>
        </p:txBody>
      </p:sp>
      <p:sp>
        <p:nvSpPr>
          <p:cNvPr id="20" name="Text 18"/>
          <p:cNvSpPr/>
          <p:nvPr/>
        </p:nvSpPr>
        <p:spPr>
          <a:xfrm>
            <a:off x="9921240" y="4480560"/>
            <a:ext cx="1554480" cy="457200"/>
          </a:xfrm>
          <a:prstGeom prst="rect">
            <a:avLst/>
          </a:prstGeom>
          <a:noFill/>
          <a:ln/>
        </p:spPr>
        <p:txBody>
          <a:bodyPr wrap="square" lIns="0" tIns="0" rIns="0" bIns="0" rtlCol="0" anchor="ctr"/>
          <a:lstStyle/>
          <a:p>
            <a:pPr algn="ctr" indent="0" marL="0">
              <a:buNone/>
            </a:pPr>
            <a:r>
              <a:rPr lang="en-US" sz="1050" dirty="0">
                <a:solidFill>
                  <a:srgbClr val="5A6485"/>
                </a:solidFill>
                <a:latin typeface="Calibri" pitchFamily="34" charset="0"/>
                <a:ea typeface="Calibri" pitchFamily="34" charset="-122"/>
                <a:cs typeface="Calibri" pitchFamily="34" charset="-120"/>
              </a:rPr>
              <a:t>ragged, sparse</a:t>
            </a:r>
            <a:endParaRPr lang="en-US" sz="1050" dirty="0"/>
          </a:p>
        </p:txBody>
      </p:sp>
      <p:sp>
        <p:nvSpPr>
          <p:cNvPr id="21" name="Text 19"/>
          <p:cNvSpPr/>
          <p:nvPr/>
        </p:nvSpPr>
        <p:spPr>
          <a:xfrm>
            <a:off x="7498080" y="4892040"/>
            <a:ext cx="4114800" cy="640080"/>
          </a:xfrm>
          <a:prstGeom prst="rect">
            <a:avLst/>
          </a:prstGeom>
          <a:noFill/>
          <a:ln/>
        </p:spPr>
        <p:txBody>
          <a:bodyPr wrap="square" lIns="0" tIns="0" rIns="0" bIns="0" rtlCol="0" anchor="ctr"/>
          <a:lstStyle/>
          <a:p>
            <a:pPr indent="0" marL="0">
              <a:buNone/>
            </a:pPr>
            <a:r>
              <a:rPr lang="en-US" sz="1100" i="1" dirty="0">
                <a:solidFill>
                  <a:srgbClr val="5A6485"/>
                </a:solidFill>
                <a:latin typeface="Calibri" pitchFamily="34" charset="0"/>
                <a:ea typeface="Calibri" pitchFamily="34" charset="-122"/>
                <a:cs typeface="Calibri" pitchFamily="34" charset="-120"/>
              </a:rPr>
              <a:t>Majority class is Technical Support at 29.3% — the number every model must beat.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6203F"/>
                </a:solidFill>
                <a:latin typeface="Cambria" pitchFamily="34" charset="0"/>
                <a:ea typeface="Cambria" pitchFamily="34" charset="-122"/>
                <a:cs typeface="Cambria" pitchFamily="34" charset="-120"/>
              </a:rPr>
              <a:t>Architecture</a:t>
            </a:r>
            <a:endParaRPr lang="en-US" sz="3400" dirty="0"/>
          </a:p>
        </p:txBody>
      </p:sp>
      <p:sp>
        <p:nvSpPr>
          <p:cNvPr id="3" name="Text 1"/>
          <p:cNvSpPr/>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5A6485"/>
                </a:solidFill>
                <a:latin typeface="Calibri" pitchFamily="34" charset="0"/>
                <a:ea typeface="Calibri" pitchFamily="34" charset="-122"/>
                <a:cs typeface="Calibri" pitchFamily="34" charset="-120"/>
              </a:rPr>
              <a:t>ELT, not ETL — the broker holds raw truth and Spark does the transformation</a:t>
            </a:r>
            <a:endParaRPr lang="en-US" sz="1400" dirty="0"/>
          </a:p>
        </p:txBody>
      </p:sp>
      <p:sp>
        <p:nvSpPr>
          <p:cNvPr id="4" name="Shape 2"/>
          <p:cNvSpPr/>
          <p:nvPr/>
        </p:nvSpPr>
        <p:spPr>
          <a:xfrm>
            <a:off x="548640" y="1828800"/>
            <a:ext cx="2057400" cy="1371600"/>
          </a:xfrm>
          <a:prstGeom prst="roundRect">
            <a:avLst>
              <a:gd name="adj" fmla="val 4667"/>
            </a:avLst>
          </a:prstGeom>
          <a:solidFill>
            <a:srgbClr val="1E2761"/>
          </a:solidFill>
          <a:ln w="12700">
            <a:solidFill>
              <a:srgbClr val="1E2761"/>
            </a:solidFill>
            <a:prstDash val="solid"/>
          </a:ln>
        </p:spPr>
      </p:sp>
      <p:sp>
        <p:nvSpPr>
          <p:cNvPr id="5" name="Text 3"/>
          <p:cNvSpPr/>
          <p:nvPr/>
        </p:nvSpPr>
        <p:spPr>
          <a:xfrm>
            <a:off x="658368" y="1920240"/>
            <a:ext cx="1837944"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 · Ingest</a:t>
            </a:r>
            <a:endParaRPr lang="en-US" sz="1200" dirty="0"/>
          </a:p>
        </p:txBody>
      </p:sp>
      <p:sp>
        <p:nvSpPr>
          <p:cNvPr id="6" name="Text 4"/>
          <p:cNvSpPr/>
          <p:nvPr/>
        </p:nvSpPr>
        <p:spPr>
          <a:xfrm>
            <a:off x="658368" y="2212848"/>
            <a:ext cx="1837944" cy="914400"/>
          </a:xfrm>
          <a:prstGeom prst="rect">
            <a:avLst/>
          </a:prstGeom>
          <a:noFill/>
          <a:ln/>
        </p:spPr>
        <p:txBody>
          <a:bodyPr wrap="square" lIns="0" tIns="0" rIns="0" bIns="0" rtlCol="0" anchor="ctr"/>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producer.py</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CSV → JSON</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Kafka tickets.raw</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keyed by content hash</a:t>
            </a:r>
            <a:endParaRPr lang="en-US" sz="950" dirty="0"/>
          </a:p>
        </p:txBody>
      </p:sp>
      <p:sp>
        <p:nvSpPr>
          <p:cNvPr id="7" name="Text 5"/>
          <p:cNvSpPr/>
          <p:nvPr/>
        </p:nvSpPr>
        <p:spPr>
          <a:xfrm>
            <a:off x="2697480" y="2377440"/>
            <a:ext cx="274320" cy="274320"/>
          </a:xfrm>
          <a:prstGeom prst="rect">
            <a:avLst/>
          </a:prstGeom>
          <a:noFill/>
          <a:ln/>
        </p:spPr>
        <p:txBody>
          <a:bodyPr wrap="square" lIns="0" tIns="0" rIns="0" bIns="0" rtlCol="0" anchor="ctr"/>
          <a:lstStyle/>
          <a:p>
            <a:pPr algn="ctr" indent="0" marL="0">
              <a:buNone/>
            </a:pPr>
            <a:r>
              <a:rPr lang="en-US" sz="1300" dirty="0">
                <a:solidFill>
                  <a:srgbClr val="5A6485"/>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3063240" y="1828800"/>
            <a:ext cx="2240280" cy="1371600"/>
          </a:xfrm>
          <a:prstGeom prst="roundRect">
            <a:avLst>
              <a:gd name="adj" fmla="val 4667"/>
            </a:avLst>
          </a:prstGeom>
          <a:solidFill>
            <a:srgbClr val="1E2761"/>
          </a:solidFill>
          <a:ln w="12700">
            <a:solidFill>
              <a:srgbClr val="1E2761"/>
            </a:solidFill>
            <a:prstDash val="solid"/>
          </a:ln>
        </p:spPr>
      </p:sp>
      <p:sp>
        <p:nvSpPr>
          <p:cNvPr id="9" name="Text 7"/>
          <p:cNvSpPr/>
          <p:nvPr/>
        </p:nvSpPr>
        <p:spPr>
          <a:xfrm>
            <a:off x="3172968" y="1920240"/>
            <a:ext cx="2020824"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 · Transform</a:t>
            </a:r>
            <a:endParaRPr lang="en-US" sz="1200" dirty="0"/>
          </a:p>
        </p:txBody>
      </p:sp>
      <p:sp>
        <p:nvSpPr>
          <p:cNvPr id="10" name="Text 8"/>
          <p:cNvSpPr/>
          <p:nvPr/>
        </p:nvSpPr>
        <p:spPr>
          <a:xfrm>
            <a:off x="3172968" y="2212848"/>
            <a:ext cx="2020824" cy="914400"/>
          </a:xfrm>
          <a:prstGeom prst="rect">
            <a:avLst/>
          </a:prstGeom>
          <a:noFill/>
          <a:ln/>
        </p:spPr>
        <p:txBody>
          <a:bodyPr wrap="square" lIns="0" tIns="0" rIns="0" bIns="0" rtlCol="0" anchor="ctr"/>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Spark Structured</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Streaming</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foreachBatch fan-out</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enrichment UDFs</a:t>
            </a:r>
            <a:endParaRPr lang="en-US" sz="950" dirty="0"/>
          </a:p>
        </p:txBody>
      </p:sp>
      <p:sp>
        <p:nvSpPr>
          <p:cNvPr id="11" name="Text 9"/>
          <p:cNvSpPr/>
          <p:nvPr/>
        </p:nvSpPr>
        <p:spPr>
          <a:xfrm>
            <a:off x="5394960" y="2377440"/>
            <a:ext cx="274320" cy="274320"/>
          </a:xfrm>
          <a:prstGeom prst="rect">
            <a:avLst/>
          </a:prstGeom>
          <a:noFill/>
          <a:ln/>
        </p:spPr>
        <p:txBody>
          <a:bodyPr wrap="square" lIns="0" tIns="0" rIns="0" bIns="0" rtlCol="0" anchor="ctr"/>
          <a:lstStyle/>
          <a:p>
            <a:pPr algn="ctr" indent="0" marL="0">
              <a:buNone/>
            </a:pPr>
            <a:r>
              <a:rPr lang="en-US" sz="1300" dirty="0">
                <a:solidFill>
                  <a:srgbClr val="5A6485"/>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5760720" y="1828800"/>
            <a:ext cx="2240280" cy="1371600"/>
          </a:xfrm>
          <a:prstGeom prst="roundRect">
            <a:avLst>
              <a:gd name="adj" fmla="val 4667"/>
            </a:avLst>
          </a:prstGeom>
          <a:solidFill>
            <a:srgbClr val="1E2761"/>
          </a:solidFill>
          <a:ln w="12700">
            <a:solidFill>
              <a:srgbClr val="1E2761"/>
            </a:solidFill>
            <a:prstDash val="solid"/>
          </a:ln>
        </p:spPr>
      </p:sp>
      <p:sp>
        <p:nvSpPr>
          <p:cNvPr id="13" name="Text 11"/>
          <p:cNvSpPr/>
          <p:nvPr/>
        </p:nvSpPr>
        <p:spPr>
          <a:xfrm>
            <a:off x="5870448" y="1920240"/>
            <a:ext cx="2020824"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 · Lake (MinIO)</a:t>
            </a:r>
            <a:endParaRPr lang="en-US" sz="1200" dirty="0"/>
          </a:p>
        </p:txBody>
      </p:sp>
      <p:sp>
        <p:nvSpPr>
          <p:cNvPr id="14" name="Text 12"/>
          <p:cNvSpPr/>
          <p:nvPr/>
        </p:nvSpPr>
        <p:spPr>
          <a:xfrm>
            <a:off x="5870448" y="2212848"/>
            <a:ext cx="2020824" cy="914400"/>
          </a:xfrm>
          <a:prstGeom prst="rect">
            <a:avLst/>
          </a:prstGeom>
          <a:noFill/>
          <a:ln/>
        </p:spPr>
        <p:txBody>
          <a:bodyPr wrap="square" lIns="0" tIns="0" rIns="0" bIns="0" rtlCol="0" anchor="ctr"/>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bronze — raw, immutable</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silver — enriched</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gold — KPI aggregates</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Parquet throughout</a:t>
            </a:r>
            <a:endParaRPr lang="en-US" sz="950" dirty="0"/>
          </a:p>
        </p:txBody>
      </p:sp>
      <p:sp>
        <p:nvSpPr>
          <p:cNvPr id="15" name="Text 13"/>
          <p:cNvSpPr/>
          <p:nvPr/>
        </p:nvSpPr>
        <p:spPr>
          <a:xfrm>
            <a:off x="8092440" y="2377440"/>
            <a:ext cx="274320" cy="274320"/>
          </a:xfrm>
          <a:prstGeom prst="rect">
            <a:avLst/>
          </a:prstGeom>
          <a:noFill/>
          <a:ln/>
        </p:spPr>
        <p:txBody>
          <a:bodyPr wrap="square" lIns="0" tIns="0" rIns="0" bIns="0" rtlCol="0" anchor="ctr"/>
          <a:lstStyle/>
          <a:p>
            <a:pPr algn="ctr" indent="0" marL="0">
              <a:buNone/>
            </a:pPr>
            <a:r>
              <a:rPr lang="en-US" sz="1300" dirty="0">
                <a:solidFill>
                  <a:srgbClr val="5A6485"/>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8458200" y="1828800"/>
            <a:ext cx="3154680" cy="1371600"/>
          </a:xfrm>
          <a:prstGeom prst="roundRect">
            <a:avLst>
              <a:gd name="adj" fmla="val 4667"/>
            </a:avLst>
          </a:prstGeom>
          <a:solidFill>
            <a:srgbClr val="1E2761"/>
          </a:solidFill>
          <a:ln w="12700">
            <a:solidFill>
              <a:srgbClr val="1E2761"/>
            </a:solidFill>
            <a:prstDash val="solid"/>
          </a:ln>
        </p:spPr>
      </p:sp>
      <p:sp>
        <p:nvSpPr>
          <p:cNvPr id="17" name="Text 15"/>
          <p:cNvSpPr/>
          <p:nvPr/>
        </p:nvSpPr>
        <p:spPr>
          <a:xfrm>
            <a:off x="8567928" y="1920240"/>
            <a:ext cx="2935224"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4 · Serve</a:t>
            </a:r>
            <a:endParaRPr lang="en-US" sz="1200" dirty="0"/>
          </a:p>
        </p:txBody>
      </p:sp>
      <p:sp>
        <p:nvSpPr>
          <p:cNvPr id="18" name="Text 16"/>
          <p:cNvSpPr/>
          <p:nvPr/>
        </p:nvSpPr>
        <p:spPr>
          <a:xfrm>
            <a:off x="8567928" y="2212848"/>
            <a:ext cx="2935224" cy="914400"/>
          </a:xfrm>
          <a:prstGeom prst="rect">
            <a:avLst/>
          </a:prstGeom>
          <a:noFill/>
          <a:ln/>
        </p:spPr>
        <p:txBody>
          <a:bodyPr wrap="square" lIns="0" tIns="0" rIns="0" bIns="0" rtlCol="0" anchor="ctr"/>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Elasticsearch — dense_vector 384</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cosine kNN + BM25, same docs</a:t>
            </a: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FastAPI /search /ask /route /kpis</a:t>
            </a:r>
            <a:endParaRPr lang="en-US" sz="950" dirty="0"/>
          </a:p>
        </p:txBody>
      </p:sp>
      <p:sp>
        <p:nvSpPr>
          <p:cNvPr id="19" name="Shape 17"/>
          <p:cNvSpPr/>
          <p:nvPr/>
        </p:nvSpPr>
        <p:spPr>
          <a:xfrm>
            <a:off x="548640" y="3429000"/>
            <a:ext cx="11064240" cy="1143000"/>
          </a:xfrm>
          <a:prstGeom prst="roundRect">
            <a:avLst>
              <a:gd name="adj" fmla="val 6400"/>
            </a:avLst>
          </a:prstGeom>
          <a:solidFill>
            <a:srgbClr val="F4F6FB"/>
          </a:solidFill>
          <a:ln w="12700">
            <a:solidFill>
              <a:srgbClr val="F4F6FB"/>
            </a:solidFill>
            <a:prstDash val="solid"/>
          </a:ln>
        </p:spPr>
      </p:sp>
      <p:sp>
        <p:nvSpPr>
          <p:cNvPr id="20" name="Text 18"/>
          <p:cNvSpPr/>
          <p:nvPr/>
        </p:nvSpPr>
        <p:spPr>
          <a:xfrm>
            <a:off x="731520" y="3520440"/>
            <a:ext cx="4572000" cy="274320"/>
          </a:xfrm>
          <a:prstGeom prst="rect">
            <a:avLst/>
          </a:prstGeom>
          <a:noFill/>
          <a:ln/>
        </p:spPr>
        <p:txBody>
          <a:bodyPr wrap="square" lIns="0" tIns="0" rIns="0" bIns="0" rtlCol="0" anchor="ctr"/>
          <a:lstStyle/>
          <a:p>
            <a:pPr indent="0" marL="0">
              <a:buNone/>
            </a:pPr>
            <a:r>
              <a:rPr lang="en-US" sz="1200" b="1" dirty="0">
                <a:solidFill>
                  <a:srgbClr val="16203F"/>
                </a:solidFill>
                <a:latin typeface="Calibri" pitchFamily="34" charset="0"/>
                <a:ea typeface="Calibri" pitchFamily="34" charset="-122"/>
                <a:cs typeface="Calibri" pitchFamily="34" charset="-120"/>
              </a:rPr>
              <a:t>Enrichment applied to every ticket</a:t>
            </a:r>
            <a:endParaRPr lang="en-US" sz="1200" dirty="0"/>
          </a:p>
        </p:txBody>
      </p:sp>
      <p:sp>
        <p:nvSpPr>
          <p:cNvPr id="21" name="Text 19"/>
          <p:cNvSpPr/>
          <p:nvPr/>
        </p:nvSpPr>
        <p:spPr>
          <a:xfrm>
            <a:off x="731520" y="3840480"/>
            <a:ext cx="10698480" cy="320040"/>
          </a:xfrm>
          <a:prstGeom prst="rect">
            <a:avLst/>
          </a:prstGeom>
          <a:noFill/>
          <a:ln/>
        </p:spPr>
        <p:txBody>
          <a:bodyPr wrap="square" lIns="0" tIns="0" rIns="0" bIns="0" rtlCol="0" anchor="ctr"/>
          <a:lstStyle/>
          <a:p>
            <a:pPr indent="0" marL="0">
              <a:buNone/>
            </a:pPr>
            <a:r>
              <a:rPr lang="en-US" sz="1250" dirty="0">
                <a:solidFill>
                  <a:srgbClr val="1E2761"/>
                </a:solidFill>
                <a:latin typeface="Calibri" pitchFamily="34" charset="0"/>
                <a:ea typeface="Calibri" pitchFamily="34" charset="-122"/>
                <a:cs typeface="Calibri" pitchFamily="34" charset="-120"/>
              </a:rPr>
              <a:t>normalise text  ·  redact PII  ·  detect language  ·  sentiment  ·  rule classify  ·  embed 384-d</a:t>
            </a:r>
            <a:endParaRPr lang="en-US" sz="1250" dirty="0"/>
          </a:p>
        </p:txBody>
      </p:sp>
      <p:sp>
        <p:nvSpPr>
          <p:cNvPr id="22" name="Text 20"/>
          <p:cNvSpPr/>
          <p:nvPr/>
        </p:nvSpPr>
        <p:spPr>
          <a:xfrm>
            <a:off x="731520" y="4160520"/>
            <a:ext cx="10698480" cy="320040"/>
          </a:xfrm>
          <a:prstGeom prst="rect">
            <a:avLst/>
          </a:prstGeom>
          <a:noFill/>
          <a:ln/>
        </p:spPr>
        <p:txBody>
          <a:bodyPr wrap="square" lIns="0" tIns="0" rIns="0" bIns="0" rtlCol="0" anchor="ctr"/>
          <a:lstStyle/>
          <a:p>
            <a:pPr indent="0" marL="0">
              <a:buNone/>
            </a:pPr>
            <a:r>
              <a:rPr lang="en-US" sz="1100" i="1" dirty="0">
                <a:solidFill>
                  <a:srgbClr val="5A6485"/>
                </a:solidFill>
                <a:latin typeface="Calibri" pitchFamily="34" charset="0"/>
                <a:ea typeface="Calibri" pitchFamily="34" charset="-122"/>
                <a:cs typeface="Calibri" pitchFamily="34" charset="-120"/>
              </a:rPr>
              <a:t>All of it is pure Python in core/ — Spark calls the same functions the unit tests call.</a:t>
            </a:r>
            <a:endParaRPr lang="en-US" sz="1100" dirty="0"/>
          </a:p>
        </p:txBody>
      </p:sp>
      <p:sp>
        <p:nvSpPr>
          <p:cNvPr id="23" name="Text 21"/>
          <p:cNvSpPr/>
          <p:nvPr/>
        </p:nvSpPr>
        <p:spPr>
          <a:xfrm>
            <a:off x="548640" y="4800600"/>
            <a:ext cx="11064240" cy="457200"/>
          </a:xfrm>
          <a:prstGeom prst="rect">
            <a:avLst/>
          </a:prstGeom>
          <a:noFill/>
          <a:ln/>
        </p:spPr>
        <p:txBody>
          <a:bodyPr wrap="square" lIns="0" tIns="0" rIns="0" bIns="0" rtlCol="0" anchor="ctr"/>
          <a:lstStyle/>
          <a:p>
            <a:pPr indent="0" marL="0">
              <a:buNone/>
            </a:pPr>
            <a:r>
              <a:rPr lang="en-US" sz="1200" b="1" dirty="0">
                <a:solidFill>
                  <a:srgbClr val="16203F"/>
                </a:solidFill>
                <a:latin typeface="Calibri" pitchFamily="34" charset="0"/>
                <a:ea typeface="Calibri" pitchFamily="34" charset="-122"/>
                <a:cs typeface="Calibri" pitchFamily="34" charset="-120"/>
              </a:rPr>
              <a:t>Why foreachBatch instead of three streaming sinks?  </a:t>
            </a:r>
            <a:pPr indent="0" marL="0">
              <a:buNone/>
            </a:pPr>
            <a:r>
              <a:rPr lang="en-US" sz="1200" dirty="0">
                <a:solidFill>
                  <a:srgbClr val="16203F"/>
                </a:solidFill>
                <a:latin typeface="Calibri" pitchFamily="34" charset="0"/>
                <a:ea typeface="Calibri" pitchFamily="34" charset="-122"/>
                <a:cs typeface="Calibri" pitchFamily="34" charset="-120"/>
              </a:rPr>
              <a:t>One micro-batch fans out to two Parquet paths and Elasticsearch. Three separate writeStream queries would re-run the expensive enrichment for each sink.</a:t>
            </a:r>
            <a:endParaRPr lang="en-US" sz="1200" dirty="0"/>
          </a:p>
        </p:txBody>
      </p:sp>
      <p:sp>
        <p:nvSpPr>
          <p:cNvPr id="24" name="Text 22"/>
          <p:cNvSpPr/>
          <p:nvPr/>
        </p:nvSpPr>
        <p:spPr>
          <a:xfrm>
            <a:off x="548640" y="5303520"/>
            <a:ext cx="11064240" cy="457200"/>
          </a:xfrm>
          <a:prstGeom prst="rect">
            <a:avLst/>
          </a:prstGeom>
          <a:noFill/>
          <a:ln/>
        </p:spPr>
        <p:txBody>
          <a:bodyPr wrap="square" lIns="0" tIns="0" rIns="0" bIns="0" rtlCol="0" anchor="ctr"/>
          <a:lstStyle/>
          <a:p>
            <a:pPr indent="0" marL="0">
              <a:buNone/>
            </a:pPr>
            <a:r>
              <a:rPr lang="en-US" sz="1200" b="1" dirty="0">
                <a:solidFill>
                  <a:srgbClr val="16203F"/>
                </a:solidFill>
                <a:latin typeface="Calibri" pitchFamily="34" charset="0"/>
                <a:ea typeface="Calibri" pitchFamily="34" charset="-122"/>
                <a:cs typeface="Calibri" pitchFamily="34" charset="-120"/>
              </a:rPr>
              <a:t>Why a content-hash ticket_id?  </a:t>
            </a:r>
            <a:pPr indent="0" marL="0">
              <a:buNone/>
            </a:pPr>
            <a:r>
              <a:rPr lang="en-US" sz="1200" dirty="0">
                <a:solidFill>
                  <a:srgbClr val="16203F"/>
                </a:solidFill>
                <a:latin typeface="Calibri" pitchFamily="34" charset="0"/>
                <a:ea typeface="Calibri" pitchFamily="34" charset="-122"/>
                <a:cs typeface="Calibri" pitchFamily="34" charset="-120"/>
              </a:rPr>
              <a:t>Kafka gives at-least-once. Hashing content makes every sink idempotent, so a replayed batch overwrites rather than duplicates — effectively-once without transactions.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6203F"/>
                </a:solidFill>
                <a:latin typeface="Cambria" pitchFamily="34" charset="0"/>
                <a:ea typeface="Cambria" pitchFamily="34" charset="-122"/>
                <a:cs typeface="Cambria" pitchFamily="34" charset="-120"/>
              </a:rPr>
              <a:t>The AI capability</a:t>
            </a:r>
            <a:endParaRPr lang="en-US" sz="3400" dirty="0"/>
          </a:p>
        </p:txBody>
      </p:sp>
      <p:sp>
        <p:nvSpPr>
          <p:cNvPr id="3" name="Text 1"/>
          <p:cNvSpPr/>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5A6485"/>
                </a:solidFill>
                <a:latin typeface="Calibri" pitchFamily="34" charset="0"/>
                <a:ea typeface="Calibri" pitchFamily="34" charset="-122"/>
                <a:cs typeface="Calibri" pitchFamily="34" charset="-120"/>
              </a:rPr>
              <a:t>Three of the brief's options; embeddings + semantic search is the centrepiece</a:t>
            </a:r>
            <a:endParaRPr lang="en-US" sz="1400" dirty="0"/>
          </a:p>
        </p:txBody>
      </p:sp>
      <p:sp>
        <p:nvSpPr>
          <p:cNvPr id="4" name="Shape 2"/>
          <p:cNvSpPr/>
          <p:nvPr/>
        </p:nvSpPr>
        <p:spPr>
          <a:xfrm>
            <a:off x="548640" y="1837944"/>
            <a:ext cx="457200" cy="457200"/>
          </a:xfrm>
          <a:prstGeom prst="ellipse">
            <a:avLst/>
          </a:prstGeom>
          <a:solidFill>
            <a:srgbClr val="2A9D8F"/>
          </a:solidFill>
          <a:ln w="12700">
            <a:solidFill>
              <a:srgbClr val="2A9D8F"/>
            </a:solidFill>
            <a:prstDash val="solid"/>
          </a:ln>
        </p:spPr>
      </p:sp>
      <p:sp>
        <p:nvSpPr>
          <p:cNvPr id="5" name="Text 3"/>
          <p:cNvSpPr/>
          <p:nvPr/>
        </p:nvSpPr>
        <p:spPr>
          <a:xfrm>
            <a:off x="548640" y="183794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6" name="Text 4"/>
          <p:cNvSpPr/>
          <p:nvPr/>
        </p:nvSpPr>
        <p:spPr>
          <a:xfrm>
            <a:off x="1188720" y="1801368"/>
            <a:ext cx="4572000" cy="292608"/>
          </a:xfrm>
          <a:prstGeom prst="rect">
            <a:avLst/>
          </a:prstGeom>
          <a:noFill/>
          <a:ln/>
        </p:spPr>
        <p:txBody>
          <a:bodyPr wrap="square" lIns="0" tIns="0" rIns="0" bIns="0" rtlCol="0" anchor="ctr"/>
          <a:lstStyle/>
          <a:p>
            <a:pPr indent="0" marL="0">
              <a:buNone/>
            </a:pPr>
            <a:r>
              <a:rPr lang="en-US" sz="1450" b="1" dirty="0">
                <a:solidFill>
                  <a:srgbClr val="16203F"/>
                </a:solidFill>
                <a:latin typeface="Calibri" pitchFamily="34" charset="0"/>
                <a:ea typeface="Calibri" pitchFamily="34" charset="-122"/>
                <a:cs typeface="Calibri" pitchFamily="34" charset="-120"/>
              </a:rPr>
              <a:t>Embeddings + semantic search</a:t>
            </a:r>
            <a:endParaRPr lang="en-US" sz="1450" dirty="0"/>
          </a:p>
        </p:txBody>
      </p:sp>
      <p:sp>
        <p:nvSpPr>
          <p:cNvPr id="7" name="Text 5"/>
          <p:cNvSpPr/>
          <p:nvPr/>
        </p:nvSpPr>
        <p:spPr>
          <a:xfrm>
            <a:off x="1188720" y="2093976"/>
            <a:ext cx="5852160" cy="310896"/>
          </a:xfrm>
          <a:prstGeom prst="rect">
            <a:avLst/>
          </a:prstGeom>
          <a:noFill/>
          <a:ln/>
        </p:spPr>
        <p:txBody>
          <a:bodyPr wrap="square" lIns="0" tIns="0" rIns="0" bIns="0" rtlCol="0" anchor="ctr"/>
          <a:lstStyle/>
          <a:p>
            <a:pPr indent="0" marL="0">
              <a:buNone/>
            </a:pPr>
            <a:r>
              <a:rPr lang="en-US" sz="1150" dirty="0">
                <a:solidFill>
                  <a:srgbClr val="5A6485"/>
                </a:solidFill>
                <a:latin typeface="Calibri" pitchFamily="34" charset="0"/>
                <a:ea typeface="Calibri" pitchFamily="34" charset="-122"/>
                <a:cs typeface="Calibri" pitchFamily="34" charset="-120"/>
              </a:rPr>
              <a:t>384-d vectors in an Elasticsearch dense_vector field, cosine kNN</a:t>
            </a:r>
            <a:endParaRPr lang="en-US" sz="1150" dirty="0"/>
          </a:p>
        </p:txBody>
      </p:sp>
      <p:sp>
        <p:nvSpPr>
          <p:cNvPr id="8" name="Shape 6"/>
          <p:cNvSpPr/>
          <p:nvPr/>
        </p:nvSpPr>
        <p:spPr>
          <a:xfrm>
            <a:off x="548640" y="2587752"/>
            <a:ext cx="457200" cy="457200"/>
          </a:xfrm>
          <a:prstGeom prst="ellipse">
            <a:avLst/>
          </a:prstGeom>
          <a:solidFill>
            <a:srgbClr val="1E2761"/>
          </a:solidFill>
          <a:ln w="12700">
            <a:solidFill>
              <a:srgbClr val="1E2761"/>
            </a:solidFill>
            <a:prstDash val="solid"/>
          </a:ln>
        </p:spPr>
      </p:sp>
      <p:sp>
        <p:nvSpPr>
          <p:cNvPr id="9" name="Text 7"/>
          <p:cNvSpPr/>
          <p:nvPr/>
        </p:nvSpPr>
        <p:spPr>
          <a:xfrm>
            <a:off x="548640" y="25877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f</a:t>
            </a:r>
            <a:endParaRPr lang="en-US" sz="1700" dirty="0"/>
          </a:p>
        </p:txBody>
      </p:sp>
      <p:sp>
        <p:nvSpPr>
          <p:cNvPr id="10" name="Text 8"/>
          <p:cNvSpPr/>
          <p:nvPr/>
        </p:nvSpPr>
        <p:spPr>
          <a:xfrm>
            <a:off x="1188720" y="2551176"/>
            <a:ext cx="4572000" cy="292608"/>
          </a:xfrm>
          <a:prstGeom prst="rect">
            <a:avLst/>
          </a:prstGeom>
          <a:noFill/>
          <a:ln/>
        </p:spPr>
        <p:txBody>
          <a:bodyPr wrap="square" lIns="0" tIns="0" rIns="0" bIns="0" rtlCol="0" anchor="ctr"/>
          <a:lstStyle/>
          <a:p>
            <a:pPr indent="0" marL="0">
              <a:buNone/>
            </a:pPr>
            <a:r>
              <a:rPr lang="en-US" sz="1450" b="1" dirty="0">
                <a:solidFill>
                  <a:srgbClr val="16203F"/>
                </a:solidFill>
                <a:latin typeface="Calibri" pitchFamily="34" charset="0"/>
                <a:ea typeface="Calibri" pitchFamily="34" charset="-122"/>
                <a:cs typeface="Calibri" pitchFamily="34" charset="-120"/>
              </a:rPr>
              <a:t>k-NN routing classifier</a:t>
            </a:r>
            <a:endParaRPr lang="en-US" sz="1450" dirty="0"/>
          </a:p>
        </p:txBody>
      </p:sp>
      <p:sp>
        <p:nvSpPr>
          <p:cNvPr id="11" name="Text 9"/>
          <p:cNvSpPr/>
          <p:nvPr/>
        </p:nvSpPr>
        <p:spPr>
          <a:xfrm>
            <a:off x="1188720" y="2843784"/>
            <a:ext cx="5852160" cy="310896"/>
          </a:xfrm>
          <a:prstGeom prst="rect">
            <a:avLst/>
          </a:prstGeom>
          <a:noFill/>
          <a:ln/>
        </p:spPr>
        <p:txBody>
          <a:bodyPr wrap="square" lIns="0" tIns="0" rIns="0" bIns="0" rtlCol="0" anchor="ctr"/>
          <a:lstStyle/>
          <a:p>
            <a:pPr indent="0" marL="0">
              <a:buNone/>
            </a:pPr>
            <a:r>
              <a:rPr lang="en-US" sz="1150" dirty="0">
                <a:solidFill>
                  <a:srgbClr val="5A6485"/>
                </a:solidFill>
                <a:latin typeface="Calibri" pitchFamily="34" charset="0"/>
                <a:ea typeface="Calibri" pitchFamily="34" charset="-122"/>
                <a:cs typeface="Calibri" pitchFamily="34" charset="-120"/>
              </a:rPr>
              <a:t>Reuses the same vectors — no separate model, no training run</a:t>
            </a:r>
            <a:endParaRPr lang="en-US" sz="1150" dirty="0"/>
          </a:p>
        </p:txBody>
      </p:sp>
      <p:sp>
        <p:nvSpPr>
          <p:cNvPr id="12" name="Shape 10"/>
          <p:cNvSpPr/>
          <p:nvPr/>
        </p:nvSpPr>
        <p:spPr>
          <a:xfrm>
            <a:off x="548640" y="3337560"/>
            <a:ext cx="457200" cy="457200"/>
          </a:xfrm>
          <a:prstGeom prst="ellipse">
            <a:avLst/>
          </a:prstGeom>
          <a:solidFill>
            <a:srgbClr val="1E2761"/>
          </a:solidFill>
          <a:ln w="12700">
            <a:solidFill>
              <a:srgbClr val="1E2761"/>
            </a:solidFill>
            <a:prstDash val="solid"/>
          </a:ln>
        </p:spPr>
      </p:sp>
      <p:sp>
        <p:nvSpPr>
          <p:cNvPr id="13" name="Text 11"/>
          <p:cNvSpPr/>
          <p:nvPr/>
        </p:nvSpPr>
        <p:spPr>
          <a:xfrm>
            <a:off x="548640" y="33375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14" name="Text 12"/>
          <p:cNvSpPr/>
          <p:nvPr/>
        </p:nvSpPr>
        <p:spPr>
          <a:xfrm>
            <a:off x="1188720" y="3300984"/>
            <a:ext cx="4572000" cy="292608"/>
          </a:xfrm>
          <a:prstGeom prst="rect">
            <a:avLst/>
          </a:prstGeom>
          <a:noFill/>
          <a:ln/>
        </p:spPr>
        <p:txBody>
          <a:bodyPr wrap="square" lIns="0" tIns="0" rIns="0" bIns="0" rtlCol="0" anchor="ctr"/>
          <a:lstStyle/>
          <a:p>
            <a:pPr indent="0" marL="0">
              <a:buNone/>
            </a:pPr>
            <a:r>
              <a:rPr lang="en-US" sz="1450" b="1" dirty="0">
                <a:solidFill>
                  <a:srgbClr val="16203F"/>
                </a:solidFill>
                <a:latin typeface="Calibri" pitchFamily="34" charset="0"/>
                <a:ea typeface="Calibri" pitchFamily="34" charset="-122"/>
                <a:cs typeface="Calibri" pitchFamily="34" charset="-120"/>
              </a:rPr>
              <a:t>RAG question answering</a:t>
            </a:r>
            <a:endParaRPr lang="en-US" sz="1450" dirty="0"/>
          </a:p>
        </p:txBody>
      </p:sp>
      <p:sp>
        <p:nvSpPr>
          <p:cNvPr id="15" name="Text 13"/>
          <p:cNvSpPr/>
          <p:nvPr/>
        </p:nvSpPr>
        <p:spPr>
          <a:xfrm>
            <a:off x="1188720" y="3593592"/>
            <a:ext cx="5852160" cy="310896"/>
          </a:xfrm>
          <a:prstGeom prst="rect">
            <a:avLst/>
          </a:prstGeom>
          <a:noFill/>
          <a:ln/>
        </p:spPr>
        <p:txBody>
          <a:bodyPr wrap="square" lIns="0" tIns="0" rIns="0" bIns="0" rtlCol="0" anchor="ctr"/>
          <a:lstStyle/>
          <a:p>
            <a:pPr indent="0" marL="0">
              <a:buNone/>
            </a:pPr>
            <a:r>
              <a:rPr lang="en-US" sz="1150" dirty="0">
                <a:solidFill>
                  <a:srgbClr val="5A6485"/>
                </a:solidFill>
                <a:latin typeface="Calibri" pitchFamily="34" charset="0"/>
                <a:ea typeface="Calibri" pitchFamily="34" charset="-122"/>
                <a:cs typeface="Calibri" pitchFamily="34" charset="-120"/>
              </a:rPr>
              <a:t>Retrieves k tickets, answers only from them, citations verified</a:t>
            </a:r>
            <a:endParaRPr lang="en-US" sz="1150" dirty="0"/>
          </a:p>
        </p:txBody>
      </p:sp>
      <p:sp>
        <p:nvSpPr>
          <p:cNvPr id="16" name="Shape 14"/>
          <p:cNvSpPr/>
          <p:nvPr/>
        </p:nvSpPr>
        <p:spPr>
          <a:xfrm>
            <a:off x="7498080" y="1783080"/>
            <a:ext cx="4114800" cy="2286000"/>
          </a:xfrm>
          <a:prstGeom prst="roundRect">
            <a:avLst>
              <a:gd name="adj" fmla="val 3200"/>
            </a:avLst>
          </a:prstGeom>
          <a:solidFill>
            <a:srgbClr val="1E2761"/>
          </a:solidFill>
          <a:ln w="12700">
            <a:solidFill>
              <a:srgbClr val="1E2761"/>
            </a:solidFill>
            <a:prstDash val="solid"/>
          </a:ln>
        </p:spPr>
      </p:sp>
      <p:sp>
        <p:nvSpPr>
          <p:cNvPr id="17" name="Text 15"/>
          <p:cNvSpPr/>
          <p:nvPr/>
        </p:nvSpPr>
        <p:spPr>
          <a:xfrm>
            <a:off x="7726680" y="1920240"/>
            <a:ext cx="36576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backends, one interface</a:t>
            </a:r>
            <a:endParaRPr lang="en-US" sz="1300" dirty="0"/>
          </a:p>
        </p:txBody>
      </p:sp>
      <p:sp>
        <p:nvSpPr>
          <p:cNvPr id="18" name="Text 16"/>
          <p:cNvSpPr/>
          <p:nvPr/>
        </p:nvSpPr>
        <p:spPr>
          <a:xfrm>
            <a:off x="7726680" y="2286000"/>
            <a:ext cx="3657600" cy="164592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multilingual MiniLM — a shared en/de vector space</a:t>
            </a:r>
            <a:endParaRPr lang="en-US" sz="1100" dirty="0"/>
          </a:p>
          <a:p>
            <a:pPr marL="342900" indent="-342900">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offline TF-IDF + SVD — no download, deterministic</a:t>
            </a:r>
            <a:endParaRPr lang="en-US" sz="1100" dirty="0"/>
          </a:p>
          <a:p>
            <a:pPr marL="342900" indent="-342900">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Identical width and normalisation, so the ES mapping never changes between them.</a:t>
            </a:r>
            <a:endParaRPr lang="en-US" sz="1100" dirty="0"/>
          </a:p>
        </p:txBody>
      </p:sp>
      <p:sp>
        <p:nvSpPr>
          <p:cNvPr id="19" name="Shape 17"/>
          <p:cNvSpPr/>
          <p:nvPr/>
        </p:nvSpPr>
        <p:spPr>
          <a:xfrm>
            <a:off x="7498080" y="4297680"/>
            <a:ext cx="4114800" cy="1874520"/>
          </a:xfrm>
          <a:prstGeom prst="roundRect">
            <a:avLst>
              <a:gd name="adj" fmla="val 3902"/>
            </a:avLst>
          </a:prstGeom>
          <a:solidFill>
            <a:srgbClr val="F4F6FB"/>
          </a:solidFill>
          <a:ln w="12700">
            <a:solidFill>
              <a:srgbClr val="F4F6FB"/>
            </a:solidFill>
            <a:prstDash val="solid"/>
          </a:ln>
        </p:spPr>
      </p:sp>
      <p:sp>
        <p:nvSpPr>
          <p:cNvPr id="20" name="Text 18"/>
          <p:cNvSpPr/>
          <p:nvPr/>
        </p:nvSpPr>
        <p:spPr>
          <a:xfrm>
            <a:off x="7726680" y="4434840"/>
            <a:ext cx="3657600" cy="274320"/>
          </a:xfrm>
          <a:prstGeom prst="rect">
            <a:avLst/>
          </a:prstGeom>
          <a:noFill/>
          <a:ln/>
        </p:spPr>
        <p:txBody>
          <a:bodyPr wrap="square" lIns="0" tIns="0" rIns="0" bIns="0" rtlCol="0" anchor="ctr"/>
          <a:lstStyle/>
          <a:p>
            <a:pPr indent="0" marL="0">
              <a:buNone/>
            </a:pPr>
            <a:r>
              <a:rPr lang="en-US" sz="1300" b="1" dirty="0">
                <a:solidFill>
                  <a:srgbClr val="16203F"/>
                </a:solidFill>
                <a:latin typeface="Calibri" pitchFamily="34" charset="0"/>
                <a:ea typeface="Calibri" pitchFamily="34" charset="-122"/>
                <a:cs typeface="Calibri" pitchFamily="34" charset="-120"/>
              </a:rPr>
              <a:t>Guardrails, not prompts</a:t>
            </a:r>
            <a:endParaRPr lang="en-US" sz="1300" dirty="0"/>
          </a:p>
        </p:txBody>
      </p:sp>
      <p:sp>
        <p:nvSpPr>
          <p:cNvPr id="21" name="Text 19"/>
          <p:cNvSpPr/>
          <p:nvPr/>
        </p:nvSpPr>
        <p:spPr>
          <a:xfrm>
            <a:off x="7726680" y="4800600"/>
            <a:ext cx="3657600" cy="123444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16203F"/>
                </a:solidFill>
                <a:latin typeface="Calibri" pitchFamily="34" charset="0"/>
                <a:ea typeface="Calibri" pitchFamily="34" charset="-122"/>
                <a:cs typeface="Calibri" pitchFamily="34" charset="-120"/>
              </a:rPr>
              <a:t>PII gate fails closed before any hosted call</a:t>
            </a:r>
            <a:endParaRPr lang="en-US" sz="1100" dirty="0"/>
          </a:p>
          <a:p>
            <a:pPr marL="342900" indent="-342900">
              <a:spcAft>
                <a:spcPts val="800"/>
              </a:spcAft>
              <a:buSzPct val="100000"/>
              <a:buChar char="•"/>
            </a:pPr>
            <a:r>
              <a:rPr lang="en-US" sz="1100" dirty="0">
                <a:solidFill>
                  <a:srgbClr val="16203F"/>
                </a:solidFill>
                <a:latin typeface="Calibri" pitchFamily="34" charset="0"/>
                <a:ea typeface="Calibri" pitchFamily="34" charset="-122"/>
                <a:cs typeface="Calibri" pitchFamily="34" charset="-120"/>
              </a:rPr>
              <a:t>Invented queue labels rejected, not indexed</a:t>
            </a:r>
            <a:endParaRPr lang="en-US" sz="1100" dirty="0"/>
          </a:p>
          <a:p>
            <a:pPr marL="342900" indent="-342900">
              <a:spcAft>
                <a:spcPts val="800"/>
              </a:spcAft>
              <a:buSzPct val="100000"/>
              <a:buChar char="•"/>
            </a:pPr>
            <a:r>
              <a:rPr lang="en-US" sz="1100" dirty="0">
                <a:solidFill>
                  <a:srgbClr val="16203F"/>
                </a:solidFill>
                <a:latin typeface="Calibri" pitchFamily="34" charset="0"/>
                <a:ea typeface="Calibri" pitchFamily="34" charset="-122"/>
                <a:cs typeface="Calibri" pitchFamily="34" charset="-120"/>
              </a:rPr>
              <a:t>RAG citations checked against retrieved ids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6203F"/>
                </a:solidFill>
                <a:latin typeface="Cambria" pitchFamily="34" charset="0"/>
                <a:ea typeface="Cambria" pitchFamily="34" charset="-122"/>
                <a:cs typeface="Cambria" pitchFamily="34" charset="-120"/>
              </a:rPr>
              <a:t>Result: routing tickets from text alone</a:t>
            </a:r>
            <a:endParaRPr lang="en-US" sz="3400" dirty="0"/>
          </a:p>
        </p:txBody>
      </p:sp>
      <p:sp>
        <p:nvSpPr>
          <p:cNvPr id="3" name="Text 1"/>
          <p:cNvSpPr/>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5A6485"/>
                </a:solidFill>
                <a:latin typeface="Calibri" pitchFamily="34" charset="0"/>
                <a:ea typeface="Calibri" pitchFamily="34" charset="-122"/>
                <a:cs typeface="Calibri" pitchFamily="34" charset="-120"/>
              </a:rPr>
              <a:t>Stratified 25% held-out split, n = 7,145</a:t>
            </a:r>
            <a:endParaRPr lang="en-US" sz="1400" dirty="0"/>
          </a:p>
        </p:txBody>
      </p:sp>
      <p:graphicFrame>
        <p:nvGraphicFramePr>
          <p:cNvPr id="4" name="Chart 0" descr=""/>
          <p:cNvGraphicFramePr/>
          <p:nvPr/>
        </p:nvGraphicFramePr>
        <p:xfrm>
          <a:off x="502920" y="1783080"/>
          <a:ext cx="5943600" cy="3703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1783080"/>
            <a:ext cx="2331720" cy="1600200"/>
          </a:xfrm>
          <a:prstGeom prst="roundRect">
            <a:avLst>
              <a:gd name="adj" fmla="val 4571"/>
            </a:avLst>
          </a:prstGeom>
          <a:solidFill>
            <a:srgbClr val="F4F6FB"/>
          </a:solidFill>
          <a:ln w="12700">
            <a:solidFill>
              <a:srgbClr val="F4F6FB"/>
            </a:solidFill>
            <a:prstDash val="solid"/>
          </a:ln>
        </p:spPr>
      </p:sp>
      <p:sp>
        <p:nvSpPr>
          <p:cNvPr id="6" name="Text 3"/>
          <p:cNvSpPr/>
          <p:nvPr/>
        </p:nvSpPr>
        <p:spPr>
          <a:xfrm>
            <a:off x="6903720" y="1929384"/>
            <a:ext cx="2057400" cy="777240"/>
          </a:xfrm>
          <a:prstGeom prst="rect">
            <a:avLst/>
          </a:prstGeom>
          <a:noFill/>
          <a:ln/>
        </p:spPr>
        <p:txBody>
          <a:bodyPr wrap="square" lIns="0" tIns="0" rIns="0" bIns="0" rtlCol="0" anchor="ctr"/>
          <a:lstStyle/>
          <a:p>
            <a:pPr algn="ctr" indent="0" marL="0">
              <a:buNone/>
            </a:pPr>
            <a:r>
              <a:rPr lang="en-US" sz="4000" b="1" dirty="0">
                <a:solidFill>
                  <a:srgbClr val="2A9D8F"/>
                </a:solidFill>
                <a:latin typeface="Cambria" pitchFamily="34" charset="0"/>
                <a:ea typeface="Cambria" pitchFamily="34" charset="-122"/>
                <a:cs typeface="Cambria" pitchFamily="34" charset="-120"/>
              </a:rPr>
              <a:t>64.8%</a:t>
            </a:r>
            <a:endParaRPr lang="en-US" sz="4000" dirty="0"/>
          </a:p>
        </p:txBody>
      </p:sp>
      <p:sp>
        <p:nvSpPr>
          <p:cNvPr id="7" name="Text 4"/>
          <p:cNvSpPr/>
          <p:nvPr/>
        </p:nvSpPr>
        <p:spPr>
          <a:xfrm>
            <a:off x="6903720" y="2697480"/>
            <a:ext cx="2057400" cy="292608"/>
          </a:xfrm>
          <a:prstGeom prst="rect">
            <a:avLst/>
          </a:prstGeom>
          <a:noFill/>
          <a:ln/>
        </p:spPr>
        <p:txBody>
          <a:bodyPr wrap="square" lIns="0" tIns="0" rIns="0" bIns="0" rtlCol="0" anchor="ctr"/>
          <a:lstStyle/>
          <a:p>
            <a:pPr algn="ctr" indent="0" marL="0">
              <a:buNone/>
            </a:pPr>
            <a:r>
              <a:rPr lang="en-US" sz="1250" b="1" dirty="0">
                <a:solidFill>
                  <a:srgbClr val="16203F"/>
                </a:solidFill>
                <a:latin typeface="Calibri" pitchFamily="34" charset="0"/>
                <a:ea typeface="Calibri" pitchFamily="34" charset="-122"/>
                <a:cs typeface="Calibri" pitchFamily="34" charset="-120"/>
              </a:rPr>
              <a:t>best router accuracy</a:t>
            </a:r>
            <a:endParaRPr lang="en-US" sz="1250" dirty="0"/>
          </a:p>
        </p:txBody>
      </p:sp>
      <p:sp>
        <p:nvSpPr>
          <p:cNvPr id="8" name="Text 5"/>
          <p:cNvSpPr/>
          <p:nvPr/>
        </p:nvSpPr>
        <p:spPr>
          <a:xfrm>
            <a:off x="6903720" y="2971800"/>
            <a:ext cx="2057400" cy="457200"/>
          </a:xfrm>
          <a:prstGeom prst="rect">
            <a:avLst/>
          </a:prstGeom>
          <a:noFill/>
          <a:ln/>
        </p:spPr>
        <p:txBody>
          <a:bodyPr wrap="square" lIns="0" tIns="0" rIns="0" bIns="0" rtlCol="0" anchor="ctr"/>
          <a:lstStyle/>
          <a:p>
            <a:pPr algn="ctr" indent="0" marL="0">
              <a:buNone/>
            </a:pPr>
            <a:r>
              <a:rPr lang="en-US" sz="1050" dirty="0">
                <a:solidFill>
                  <a:srgbClr val="5A6485"/>
                </a:solidFill>
                <a:latin typeface="Calibri" pitchFamily="34" charset="0"/>
                <a:ea typeface="Calibri" pitchFamily="34" charset="-122"/>
                <a:cs typeface="Calibri" pitchFamily="34" charset="-120"/>
              </a:rPr>
              <a:t>vs 29.3% majority</a:t>
            </a:r>
            <a:endParaRPr lang="en-US" sz="1050" dirty="0"/>
          </a:p>
        </p:txBody>
      </p:sp>
      <p:sp>
        <p:nvSpPr>
          <p:cNvPr id="9" name="Shape 6"/>
          <p:cNvSpPr/>
          <p:nvPr/>
        </p:nvSpPr>
        <p:spPr>
          <a:xfrm>
            <a:off x="9281160" y="1783080"/>
            <a:ext cx="2331720" cy="1600200"/>
          </a:xfrm>
          <a:prstGeom prst="roundRect">
            <a:avLst>
              <a:gd name="adj" fmla="val 4571"/>
            </a:avLst>
          </a:prstGeom>
          <a:solidFill>
            <a:srgbClr val="F4F6FB"/>
          </a:solidFill>
          <a:ln w="12700">
            <a:solidFill>
              <a:srgbClr val="F4F6FB"/>
            </a:solidFill>
            <a:prstDash val="solid"/>
          </a:ln>
        </p:spPr>
      </p:sp>
      <p:sp>
        <p:nvSpPr>
          <p:cNvPr id="10" name="Text 7"/>
          <p:cNvSpPr/>
          <p:nvPr/>
        </p:nvSpPr>
        <p:spPr>
          <a:xfrm>
            <a:off x="9418320" y="1929384"/>
            <a:ext cx="2057400" cy="777240"/>
          </a:xfrm>
          <a:prstGeom prst="rect">
            <a:avLst/>
          </a:prstGeom>
          <a:noFill/>
          <a:ln/>
        </p:spPr>
        <p:txBody>
          <a:bodyPr wrap="square" lIns="0" tIns="0" rIns="0" bIns="0" rtlCol="0" anchor="ctr"/>
          <a:lstStyle/>
          <a:p>
            <a:pPr algn="ctr" indent="0" marL="0">
              <a:buNone/>
            </a:pPr>
            <a:r>
              <a:rPr lang="en-US" sz="4000" b="1" dirty="0">
                <a:solidFill>
                  <a:srgbClr val="2A9D8F"/>
                </a:solidFill>
                <a:latin typeface="Cambria" pitchFamily="34" charset="0"/>
                <a:ea typeface="Cambria" pitchFamily="34" charset="-122"/>
                <a:cs typeface="Cambria" pitchFamily="34" charset="-120"/>
              </a:rPr>
              <a:t>0.645</a:t>
            </a:r>
            <a:endParaRPr lang="en-US" sz="4000" dirty="0"/>
          </a:p>
        </p:txBody>
      </p:sp>
      <p:sp>
        <p:nvSpPr>
          <p:cNvPr id="11" name="Text 8"/>
          <p:cNvSpPr/>
          <p:nvPr/>
        </p:nvSpPr>
        <p:spPr>
          <a:xfrm>
            <a:off x="9418320" y="2697480"/>
            <a:ext cx="2057400" cy="292608"/>
          </a:xfrm>
          <a:prstGeom prst="rect">
            <a:avLst/>
          </a:prstGeom>
          <a:noFill/>
          <a:ln/>
        </p:spPr>
        <p:txBody>
          <a:bodyPr wrap="square" lIns="0" tIns="0" rIns="0" bIns="0" rtlCol="0" anchor="ctr"/>
          <a:lstStyle/>
          <a:p>
            <a:pPr algn="ctr" indent="0" marL="0">
              <a:buNone/>
            </a:pPr>
            <a:r>
              <a:rPr lang="en-US" sz="1250" b="1" dirty="0">
                <a:solidFill>
                  <a:srgbClr val="16203F"/>
                </a:solidFill>
                <a:latin typeface="Calibri" pitchFamily="34" charset="0"/>
                <a:ea typeface="Calibri" pitchFamily="34" charset="-122"/>
                <a:cs typeface="Calibri" pitchFamily="34" charset="-120"/>
              </a:rPr>
              <a:t>macro-F1</a:t>
            </a:r>
            <a:endParaRPr lang="en-US" sz="1250" dirty="0"/>
          </a:p>
        </p:txBody>
      </p:sp>
      <p:sp>
        <p:nvSpPr>
          <p:cNvPr id="12" name="Text 9"/>
          <p:cNvSpPr/>
          <p:nvPr/>
        </p:nvSpPr>
        <p:spPr>
          <a:xfrm>
            <a:off x="9418320" y="2971800"/>
            <a:ext cx="2057400" cy="457200"/>
          </a:xfrm>
          <a:prstGeom prst="rect">
            <a:avLst/>
          </a:prstGeom>
          <a:noFill/>
          <a:ln/>
        </p:spPr>
        <p:txBody>
          <a:bodyPr wrap="square" lIns="0" tIns="0" rIns="0" bIns="0" rtlCol="0" anchor="ctr"/>
          <a:lstStyle/>
          <a:p>
            <a:pPr algn="ctr" indent="0" marL="0">
              <a:buNone/>
            </a:pPr>
            <a:r>
              <a:rPr lang="en-US" sz="1050" dirty="0">
                <a:solidFill>
                  <a:srgbClr val="5A6485"/>
                </a:solidFill>
                <a:latin typeface="Calibri" pitchFamily="34" charset="0"/>
                <a:ea typeface="Calibri" pitchFamily="34" charset="-122"/>
                <a:cs typeface="Calibri" pitchFamily="34" charset="-120"/>
              </a:rPr>
              <a:t>vs 0.045 majority</a:t>
            </a:r>
            <a:endParaRPr lang="en-US" sz="1050" dirty="0"/>
          </a:p>
        </p:txBody>
      </p:sp>
      <p:sp>
        <p:nvSpPr>
          <p:cNvPr id="13" name="Shape 10"/>
          <p:cNvSpPr/>
          <p:nvPr/>
        </p:nvSpPr>
        <p:spPr>
          <a:xfrm>
            <a:off x="6766560" y="3611880"/>
            <a:ext cx="4846320" cy="1874520"/>
          </a:xfrm>
          <a:prstGeom prst="roundRect">
            <a:avLst>
              <a:gd name="adj" fmla="val 3902"/>
            </a:avLst>
          </a:prstGeom>
          <a:solidFill>
            <a:srgbClr val="1E2761"/>
          </a:solidFill>
          <a:ln w="12700">
            <a:solidFill>
              <a:srgbClr val="1E2761"/>
            </a:solidFill>
            <a:prstDash val="solid"/>
          </a:ln>
        </p:spPr>
      </p:sp>
      <p:sp>
        <p:nvSpPr>
          <p:cNvPr id="14" name="Text 11"/>
          <p:cNvSpPr/>
          <p:nvPr/>
        </p:nvSpPr>
        <p:spPr>
          <a:xfrm>
            <a:off x="6949440" y="3730752"/>
            <a:ext cx="4480560" cy="292608"/>
          </a:xfrm>
          <a:prstGeom prst="rect">
            <a:avLst/>
          </a:prstGeom>
          <a:noFill/>
          <a:ln/>
        </p:spPr>
        <p:txBody>
          <a:bodyPr wrap="square" lIns="0" tIns="0" rIns="0" bIns="0" rtlCol="0" anchor="ctr"/>
          <a:lstStyle/>
          <a:p>
            <a:pPr indent="0" marL="0">
              <a:buNone/>
            </a:pPr>
            <a:r>
              <a:rPr lang="en-US" sz="1350" b="1" dirty="0">
                <a:solidFill>
                  <a:srgbClr val="E8A33D"/>
                </a:solidFill>
                <a:latin typeface="Calibri" pitchFamily="34" charset="0"/>
                <a:ea typeface="Calibri" pitchFamily="34" charset="-122"/>
                <a:cs typeface="Calibri" pitchFamily="34" charset="-120"/>
              </a:rPr>
              <a:t>Hand-written rules lose to guessing</a:t>
            </a:r>
            <a:endParaRPr lang="en-US" sz="1350" dirty="0"/>
          </a:p>
        </p:txBody>
      </p:sp>
      <p:sp>
        <p:nvSpPr>
          <p:cNvPr id="15" name="Text 12"/>
          <p:cNvSpPr/>
          <p:nvPr/>
        </p:nvSpPr>
        <p:spPr>
          <a:xfrm>
            <a:off x="6949440" y="4069080"/>
            <a:ext cx="4480560" cy="132588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27.4% accuracy is below the 29.3% you get by answering "Technical Support" every time. The rules do carry signal — macro-F1 0.208 against 0.045 — but on raw accuracy they are worse than a constant. This is why we report both metrics.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6203F"/>
                </a:solidFill>
                <a:latin typeface="Cambria" pitchFamily="34" charset="0"/>
                <a:ea typeface="Cambria" pitchFamily="34" charset="-122"/>
                <a:cs typeface="Cambria" pitchFamily="34" charset="-120"/>
              </a:rPr>
              <a:t>The result that contradicted our design</a:t>
            </a:r>
            <a:endParaRPr lang="en-US" sz="3400" dirty="0"/>
          </a:p>
        </p:txBody>
      </p:sp>
      <p:sp>
        <p:nvSpPr>
          <p:cNvPr id="3" name="Text 1"/>
          <p:cNvSpPr/>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5A6485"/>
                </a:solidFill>
                <a:latin typeface="Calibri" pitchFamily="34" charset="0"/>
                <a:ea typeface="Calibri" pitchFamily="34" charset="-122"/>
                <a:cs typeface="Calibri" pitchFamily="34" charset="-120"/>
              </a:rPr>
              <a:t>250 queries, k=5, proxy relevance — a hit counts if it shares ≥2 tags with the query ticket</a:t>
            </a:r>
            <a:endParaRPr lang="en-US" sz="1400" dirty="0"/>
          </a:p>
        </p:txBody>
      </p:sp>
      <p:graphicFrame>
        <p:nvGraphicFramePr>
          <p:cNvPr id="4" name="Chart 0" descr=""/>
          <p:cNvGraphicFramePr/>
          <p:nvPr/>
        </p:nvGraphicFramePr>
        <p:xfrm>
          <a:off x="502920" y="182880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675120" y="1828800"/>
            <a:ext cx="4937760" cy="365760"/>
          </a:xfrm>
          <a:prstGeom prst="rect">
            <a:avLst/>
          </a:prstGeom>
          <a:noFill/>
          <a:ln/>
        </p:spPr>
        <p:txBody>
          <a:bodyPr wrap="square" lIns="0" tIns="0" rIns="0" bIns="0" rtlCol="0" anchor="ctr"/>
          <a:lstStyle/>
          <a:p>
            <a:pPr indent="0" marL="0">
              <a:buNone/>
            </a:pPr>
            <a:r>
              <a:rPr lang="en-US" sz="1900" b="1" dirty="0">
                <a:solidFill>
                  <a:srgbClr val="C1443C"/>
                </a:solidFill>
                <a:latin typeface="Cambria" pitchFamily="34" charset="0"/>
                <a:ea typeface="Cambria" pitchFamily="34" charset="-122"/>
                <a:cs typeface="Cambria" pitchFamily="34" charset="-120"/>
              </a:rPr>
              <a:t>Semantic search did not beat BM25.</a:t>
            </a:r>
            <a:endParaRPr lang="en-US" sz="1900" dirty="0"/>
          </a:p>
        </p:txBody>
      </p:sp>
      <p:sp>
        <p:nvSpPr>
          <p:cNvPr id="6" name="Text 3"/>
          <p:cNvSpPr/>
          <p:nvPr/>
        </p:nvSpPr>
        <p:spPr>
          <a:xfrm>
            <a:off x="6675120" y="2286000"/>
            <a:ext cx="4937760" cy="3108960"/>
          </a:xfrm>
          <a:prstGeom prst="rect">
            <a:avLst/>
          </a:prstGeom>
          <a:noFill/>
          <a:ln/>
        </p:spPr>
        <p:txBody>
          <a:bodyPr wrap="square" lIns="0" tIns="0" rIns="0" bIns="0" rtlCol="0" anchor="ctr"/>
          <a:lstStyle/>
          <a:p>
            <a:pPr indent="0" marL="0">
              <a:spcAft>
                <a:spcPts val="800"/>
              </a:spcAft>
              <a:buNone/>
            </a:pPr>
            <a:r>
              <a:rPr lang="en-US" sz="1300" b="1" dirty="0">
                <a:solidFill>
                  <a:srgbClr val="16203F"/>
                </a:solidFill>
                <a:latin typeface="Calibri" pitchFamily="34" charset="0"/>
                <a:ea typeface="Calibri" pitchFamily="34" charset="-122"/>
                <a:cs typeface="Calibri" pitchFamily="34" charset="-120"/>
              </a:rPr>
              <a:t>Why — and why it was predictable</a:t>
            </a:r>
            <a:endParaRPr lang="en-US" sz="1150" dirty="0"/>
          </a:p>
          <a:p>
            <a:pPr indent="0" marL="0">
              <a:spcAft>
                <a:spcPts val="800"/>
              </a:spcAft>
              <a:buNone/>
            </a:pPr>
            <a:r>
              <a:rPr lang="en-US" sz="1150" dirty="0">
                <a:solidFill>
                  <a:srgbClr val="16203F"/>
                </a:solidFill>
                <a:latin typeface="Calibri" pitchFamily="34" charset="0"/>
                <a:ea typeface="Calibri" pitchFamily="34" charset="-122"/>
                <a:cs typeface="Calibri" pitchFamily="34" charset="-120"/>
              </a:rPr>
              <a:t>These numbers come from the offline TF-IDF + SVD backend, i.e. LSA. LSA is a linear projection of the same term-document statistics BM25 already scores. It compresses lexical information; it adds no semantic information from outside the corpus.</a:t>
            </a:r>
            <a:endParaRPr lang="en-US" sz="1150" dirty="0"/>
          </a:p>
          <a:p>
            <a:pPr indent="0" marL="0">
              <a:spcAft>
                <a:spcPts val="800"/>
              </a:spcAft>
              <a:buNone/>
            </a:pPr>
            <a:r>
              <a:rPr lang="en-US" sz="1150" dirty="0">
                <a:solidFill>
                  <a:srgbClr val="16203F"/>
                </a:solidFill>
                <a:latin typeface="Calibri" pitchFamily="34" charset="0"/>
                <a:ea typeface="Calibri" pitchFamily="34" charset="-122"/>
                <a:cs typeface="Calibri" pitchFamily="34" charset="-120"/>
              </a:rPr>
              <a:t>The unrestricted cross-lingual probe makes the point sharply: a German query's top-5 is dominated by German tickets on volume alone (12,249 of them) before cross-lingual ability gets a chance to show — that is a flaw in the probe, not the model.</a:t>
            </a:r>
            <a:endParaRPr lang="en-US" sz="1150" dirty="0"/>
          </a:p>
          <a:p>
            <a:pPr indent="0" marL="0">
              <a:spcAft>
                <a:spcPts val="800"/>
              </a:spcAft>
              <a:buNone/>
            </a:pPr>
            <a:r>
              <a:rPr lang="en-US" sz="1150" b="1" dirty="0">
                <a:solidFill>
                  <a:srgbClr val="16203F"/>
                </a:solidFill>
                <a:latin typeface="Calibri" pitchFamily="34" charset="0"/>
                <a:ea typeface="Calibri" pitchFamily="34" charset="-122"/>
                <a:cs typeface="Calibri" pitchFamily="34" charset="-120"/>
              </a:rPr>
              <a:t>We fixed the probe: restrict the candidate pool to the other language before ranking, then score with the same relevance proxy, on the full 28,587-ticket corpus. Semantic beats keyword by 2.5 points of precision@5 (0.685 vs. 0.660) — wider than the 1.6-point gap in same-pool retrieval, because BM25 cannot match German query terms against English text at all. (A first pass on a 5,000-ticket sample showed an 11.5-point gap — right direction, overstated by sample size.)</a:t>
            </a:r>
            <a:endParaRPr lang="en-US" sz="1150" dirty="0"/>
          </a:p>
        </p:txBody>
      </p:sp>
      <p:sp>
        <p:nvSpPr>
          <p:cNvPr id="7" name="Text 4"/>
          <p:cNvSpPr/>
          <p:nvPr/>
        </p:nvSpPr>
        <p:spPr>
          <a:xfrm>
            <a:off x="502920" y="5532120"/>
            <a:ext cx="11109960" cy="365760"/>
          </a:xfrm>
          <a:prstGeom prst="rect">
            <a:avLst/>
          </a:prstGeom>
          <a:noFill/>
          <a:ln/>
        </p:spPr>
        <p:txBody>
          <a:bodyPr wrap="square" lIns="0" tIns="0" rIns="0" bIns="0" rtlCol="0" anchor="ctr"/>
          <a:lstStyle/>
          <a:p>
            <a:pPr indent="0" marL="0">
              <a:buNone/>
            </a:pPr>
            <a:r>
              <a:rPr lang="en-US" sz="1150" i="1" dirty="0">
                <a:solidFill>
                  <a:srgbClr val="5A6485"/>
                </a:solidFill>
                <a:latin typeface="Calibri" pitchFamily="34" charset="0"/>
                <a:ea typeface="Calibri" pitchFamily="34" charset="-122"/>
                <a:cs typeface="Calibri" pitchFamily="34" charset="-120"/>
              </a:rPr>
              <a:t>Routing is a different task: k-NN exploits the geometry of the space, so embeddings win there even in LSA form.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6203F"/>
                </a:solidFill>
                <a:latin typeface="Cambria" pitchFamily="34" charset="0"/>
                <a:ea typeface="Cambria" pitchFamily="34" charset="-122"/>
                <a:cs typeface="Cambria" pitchFamily="34" charset="-120"/>
              </a:rPr>
              <a:t>What the data told us</a:t>
            </a:r>
            <a:endParaRPr lang="en-US" sz="3400" dirty="0"/>
          </a:p>
        </p:txBody>
      </p:sp>
      <p:sp>
        <p:nvSpPr>
          <p:cNvPr id="3" name="Text 1"/>
          <p:cNvSpPr/>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5A6485"/>
                </a:solidFill>
                <a:latin typeface="Calibri" pitchFamily="34" charset="0"/>
                <a:ea typeface="Calibri" pitchFamily="34" charset="-122"/>
                <a:cs typeface="Calibri" pitchFamily="34" charset="-120"/>
              </a:rPr>
              <a:t>Findings that change what an operations team would do on Monday</a:t>
            </a:r>
            <a:endParaRPr lang="en-US" sz="1400" dirty="0"/>
          </a:p>
        </p:txBody>
      </p:sp>
      <p:sp>
        <p:nvSpPr>
          <p:cNvPr id="4" name="Shape 2"/>
          <p:cNvSpPr/>
          <p:nvPr/>
        </p:nvSpPr>
        <p:spPr>
          <a:xfrm>
            <a:off x="548640" y="1737360"/>
            <a:ext cx="5440680" cy="1965960"/>
          </a:xfrm>
          <a:prstGeom prst="roundRect">
            <a:avLst>
              <a:gd name="adj" fmla="val 3721"/>
            </a:avLst>
          </a:prstGeom>
          <a:solidFill>
            <a:srgbClr val="1E2761"/>
          </a:solidFill>
          <a:ln w="12700">
            <a:solidFill>
              <a:srgbClr val="1E2761"/>
            </a:solidFill>
            <a:prstDash val="solid"/>
          </a:ln>
        </p:spPr>
      </p:sp>
      <p:sp>
        <p:nvSpPr>
          <p:cNvPr id="5" name="Text 3"/>
          <p:cNvSpPr/>
          <p:nvPr/>
        </p:nvSpPr>
        <p:spPr>
          <a:xfrm>
            <a:off x="731520" y="1847088"/>
            <a:ext cx="5074920" cy="292608"/>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The language label is broken in one direction</a:t>
            </a:r>
            <a:endParaRPr lang="en-US" sz="1400" dirty="0"/>
          </a:p>
        </p:txBody>
      </p:sp>
      <p:sp>
        <p:nvSpPr>
          <p:cNvPr id="6" name="Text 4"/>
          <p:cNvSpPr/>
          <p:nvPr/>
        </p:nvSpPr>
        <p:spPr>
          <a:xfrm>
            <a:off x="731520" y="2212848"/>
            <a:ext cx="5074920" cy="1371600"/>
          </a:xfrm>
          <a:prstGeom prst="rect">
            <a:avLst/>
          </a:prstGeom>
          <a:noFill/>
          <a:ln/>
        </p:spPr>
        <p:txBody>
          <a:bodyPr wrap="square" lIns="0" tIns="0" rIns="0" bIns="0" rtlCol="0" anchor="ctr"/>
          <a:lstStyle/>
          <a:p>
            <a:pPr indent="0" marL="0">
              <a:spcAft>
                <a:spcPts val="700"/>
              </a:spcAft>
              <a:buNone/>
            </a:pPr>
            <a:r>
              <a:rPr lang="en-US" sz="1150" dirty="0">
                <a:solidFill>
                  <a:srgbClr val="CADCFC"/>
                </a:solidFill>
                <a:latin typeface="Calibri" pitchFamily="34" charset="0"/>
                <a:ea typeface="Calibri" pitchFamily="34" charset="-122"/>
                <a:cs typeface="Calibri" pitchFamily="34" charset="-120"/>
              </a:rPr>
              <a:t>Tickets labelled de are wrong 27.2% of the time.</a:t>
            </a:r>
            <a:endParaRPr lang="en-US" sz="1150" dirty="0"/>
          </a:p>
          <a:p>
            <a:pPr indent="0" marL="0">
              <a:spcAft>
                <a:spcPts val="700"/>
              </a:spcAft>
              <a:buNone/>
            </a:pPr>
            <a:r>
              <a:rPr lang="en-US" sz="1150" dirty="0">
                <a:solidFill>
                  <a:srgbClr val="CADCFC"/>
                </a:solidFill>
                <a:latin typeface="Calibri" pitchFamily="34" charset="0"/>
                <a:ea typeface="Calibri" pitchFamily="34" charset="-122"/>
                <a:cs typeface="Calibri" pitchFamily="34" charset="-120"/>
              </a:rPr>
              <a:t>Tickets labelled en are wrong 0.05% of the time.</a:t>
            </a:r>
            <a:endParaRPr lang="en-US" sz="1150" dirty="0"/>
          </a:p>
          <a:p>
            <a:pPr indent="0" marL="0">
              <a:spcAft>
                <a:spcPts val="700"/>
              </a:spcAft>
              <a:buNone/>
            </a:pPr>
            <a:r>
              <a:rPr lang="en-US" sz="1150" dirty="0">
                <a:solidFill>
                  <a:srgbClr val="CADCFC"/>
                </a:solidFill>
                <a:latin typeface="Calibri" pitchFamily="34" charset="0"/>
                <a:ea typeface="Calibri" pitchFamily="34" charset="-122"/>
                <a:cs typeface="Calibri" pitchFamily="34" charset="-120"/>
              </a:rPr>
              <a:t>The 11.7% headline rate hides a one-directional defect: more than a quarter of the "German" corpus is English text.</a:t>
            </a:r>
            <a:endParaRPr lang="en-US" sz="1150" dirty="0"/>
          </a:p>
        </p:txBody>
      </p:sp>
      <p:sp>
        <p:nvSpPr>
          <p:cNvPr id="7" name="Shape 5"/>
          <p:cNvSpPr/>
          <p:nvPr/>
        </p:nvSpPr>
        <p:spPr>
          <a:xfrm>
            <a:off x="6172200" y="1737360"/>
            <a:ext cx="5440680" cy="1965960"/>
          </a:xfrm>
          <a:prstGeom prst="roundRect">
            <a:avLst>
              <a:gd name="adj" fmla="val 3721"/>
            </a:avLst>
          </a:prstGeom>
          <a:solidFill>
            <a:srgbClr val="F4F6FB"/>
          </a:solidFill>
          <a:ln w="12700">
            <a:solidFill>
              <a:srgbClr val="F4F6FB"/>
            </a:solidFill>
            <a:prstDash val="solid"/>
          </a:ln>
        </p:spPr>
      </p:sp>
      <p:sp>
        <p:nvSpPr>
          <p:cNvPr id="8" name="Text 6"/>
          <p:cNvSpPr/>
          <p:nvPr/>
        </p:nvSpPr>
        <p:spPr>
          <a:xfrm>
            <a:off x="6355080" y="1847088"/>
            <a:ext cx="5074920" cy="292608"/>
          </a:xfrm>
          <a:prstGeom prst="rect">
            <a:avLst/>
          </a:prstGeom>
          <a:noFill/>
          <a:ln/>
        </p:spPr>
        <p:txBody>
          <a:bodyPr wrap="square" lIns="0" tIns="0" rIns="0" bIns="0" rtlCol="0" anchor="ctr"/>
          <a:lstStyle/>
          <a:p>
            <a:pPr indent="0" marL="0">
              <a:buNone/>
            </a:pPr>
            <a:r>
              <a:rPr lang="en-US" sz="1400" b="1" dirty="0">
                <a:solidFill>
                  <a:srgbClr val="16203F"/>
                </a:solidFill>
                <a:latin typeface="Calibri" pitchFamily="34" charset="0"/>
                <a:ea typeface="Calibri" pitchFamily="34" charset="-122"/>
                <a:cs typeface="Calibri" pitchFamily="34" charset="-120"/>
              </a:rPr>
              <a:t>Urgency is concentrated, not where volume is</a:t>
            </a:r>
            <a:endParaRPr lang="en-US" sz="1400" dirty="0"/>
          </a:p>
        </p:txBody>
      </p:sp>
      <p:sp>
        <p:nvSpPr>
          <p:cNvPr id="9" name="Text 7"/>
          <p:cNvSpPr/>
          <p:nvPr/>
        </p:nvSpPr>
        <p:spPr>
          <a:xfrm>
            <a:off x="6355080" y="2212848"/>
            <a:ext cx="5074920" cy="1371600"/>
          </a:xfrm>
          <a:prstGeom prst="rect">
            <a:avLst/>
          </a:prstGeom>
          <a:noFill/>
          <a:ln/>
        </p:spPr>
        <p:txBody>
          <a:bodyPr wrap="square" lIns="0" tIns="0" rIns="0" bIns="0" rtlCol="0" anchor="ctr"/>
          <a:lstStyle/>
          <a:p>
            <a:pPr indent="0" marL="0">
              <a:spcAft>
                <a:spcPts val="700"/>
              </a:spcAft>
              <a:buNone/>
            </a:pPr>
            <a:r>
              <a:rPr lang="en-US" sz="1150" dirty="0">
                <a:solidFill>
                  <a:srgbClr val="16203F"/>
                </a:solidFill>
                <a:latin typeface="Calibri" pitchFamily="34" charset="0"/>
                <a:ea typeface="Calibri" pitchFamily="34" charset="-122"/>
                <a:cs typeface="Calibri" pitchFamily="34" charset="-120"/>
              </a:rPr>
              <a:t>Service Outages is 4.0% of volume but 71.0% high priority.</a:t>
            </a:r>
            <a:endParaRPr lang="en-US" sz="1150" dirty="0"/>
          </a:p>
          <a:p>
            <a:pPr indent="0" marL="0">
              <a:spcAft>
                <a:spcPts val="700"/>
              </a:spcAft>
              <a:buNone/>
            </a:pPr>
            <a:r>
              <a:rPr lang="en-US" sz="1150" dirty="0">
                <a:solidFill>
                  <a:srgbClr val="16203F"/>
                </a:solidFill>
                <a:latin typeface="Calibri" pitchFamily="34" charset="0"/>
                <a:ea typeface="Calibri" pitchFamily="34" charset="-122"/>
                <a:cs typeface="Calibri" pitchFamily="34" charset="-120"/>
              </a:rPr>
              <a:t>Human Resources is 9.5%.</a:t>
            </a:r>
            <a:endParaRPr lang="en-US" sz="1150" dirty="0"/>
          </a:p>
          <a:p>
            <a:pPr indent="0" marL="0">
              <a:spcAft>
                <a:spcPts val="700"/>
              </a:spcAft>
              <a:buNone/>
            </a:pPr>
            <a:r>
              <a:rPr lang="en-US" sz="1150" dirty="0">
                <a:solidFill>
                  <a:srgbClr val="16203F"/>
                </a:solidFill>
                <a:latin typeface="Calibri" pitchFamily="34" charset="0"/>
                <a:ea typeface="Calibri" pitchFamily="34" charset="-122"/>
                <a:cs typeface="Calibri" pitchFamily="34" charset="-120"/>
              </a:rPr>
              <a:t>Staffing to ticket volume would badly under-resource the outage queue.</a:t>
            </a:r>
            <a:endParaRPr lang="en-US" sz="1150" dirty="0"/>
          </a:p>
        </p:txBody>
      </p:sp>
      <p:graphicFrame>
        <p:nvGraphicFramePr>
          <p:cNvPr id="10" name="Chart 0" descr=""/>
          <p:cNvGraphicFramePr/>
          <p:nvPr/>
        </p:nvGraphicFramePr>
        <p:xfrm>
          <a:off x="502920" y="3840480"/>
          <a:ext cx="11155680" cy="2148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indent="0" marL="0">
              <a:buNone/>
            </a:pPr>
            <a:r>
              <a:rPr lang="en-US" sz="3400" b="1" dirty="0">
                <a:solidFill>
                  <a:srgbClr val="16203F"/>
                </a:solidFill>
                <a:latin typeface="Cambria" pitchFamily="34" charset="0"/>
                <a:ea typeface="Cambria" pitchFamily="34" charset="-122"/>
                <a:cs typeface="Cambria" pitchFamily="34" charset="-120"/>
              </a:rPr>
              <a:t>Trade-offs we made deliberately</a:t>
            </a:r>
            <a:endParaRPr lang="en-US" sz="3400" dirty="0"/>
          </a:p>
        </p:txBody>
      </p:sp>
      <p:sp>
        <p:nvSpPr>
          <p:cNvPr id="3" name="Text 1"/>
          <p:cNvSpPr/>
          <p:nvPr/>
        </p:nvSpPr>
        <p:spPr>
          <a:xfrm>
            <a:off x="548640" y="1078992"/>
            <a:ext cx="11064240" cy="365760"/>
          </a:xfrm>
          <a:prstGeom prst="rect">
            <a:avLst/>
          </a:prstGeom>
          <a:noFill/>
          <a:ln/>
        </p:spPr>
        <p:txBody>
          <a:bodyPr wrap="square" lIns="0" tIns="0" rIns="0" bIns="0" rtlCol="0" anchor="ctr"/>
          <a:lstStyle/>
          <a:p>
            <a:pPr indent="0" marL="0">
              <a:buNone/>
            </a:pPr>
            <a:r>
              <a:rPr lang="en-US" sz="1400" i="1" dirty="0">
                <a:solidFill>
                  <a:srgbClr val="5A6485"/>
                </a:solidFill>
                <a:latin typeface="Calibri" pitchFamily="34" charset="0"/>
                <a:ea typeface="Calibri" pitchFamily="34" charset="-122"/>
                <a:cs typeface="Calibri" pitchFamily="34" charset="-120"/>
              </a:rPr>
              <a:t>And the one we would change first</a:t>
            </a:r>
            <a:endParaRPr lang="en-US" sz="1400" dirty="0"/>
          </a:p>
        </p:txBody>
      </p:sp>
      <p:sp>
        <p:nvSpPr>
          <p:cNvPr id="4" name="Text 2"/>
          <p:cNvSpPr/>
          <p:nvPr/>
        </p:nvSpPr>
        <p:spPr>
          <a:xfrm>
            <a:off x="548640" y="1783080"/>
            <a:ext cx="6675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Pure-Python core, Spark as a thin wrapper</a:t>
            </a:r>
            <a:endParaRPr lang="en-US" sz="1350" dirty="0"/>
          </a:p>
        </p:txBody>
      </p:sp>
      <p:sp>
        <p:nvSpPr>
          <p:cNvPr id="5" name="Text 3"/>
          <p:cNvSpPr/>
          <p:nvPr/>
        </p:nvSpPr>
        <p:spPr>
          <a:xfrm>
            <a:off x="548640" y="2057400"/>
            <a:ext cx="6675120" cy="566928"/>
          </a:xfrm>
          <a:prstGeom prst="rect">
            <a:avLst/>
          </a:prstGeom>
          <a:noFill/>
          <a:ln/>
        </p:spPr>
        <p:txBody>
          <a:bodyPr wrap="square" lIns="0" tIns="0" rIns="0" bIns="0" rtlCol="0" anchor="ctr"/>
          <a:lstStyle/>
          <a:p>
            <a:pPr indent="0" marL="0">
              <a:buNone/>
            </a:pPr>
            <a:r>
              <a:rPr lang="en-US" sz="1100" dirty="0">
                <a:solidFill>
                  <a:srgbClr val="5A6485"/>
                </a:solidFill>
                <a:latin typeface="Calibri" pitchFamily="34" charset="0"/>
                <a:ea typeface="Calibri" pitchFamily="34" charset="-122"/>
                <a:cs typeface="Calibri" pitchFamily="34" charset="-120"/>
              </a:rPr>
              <a:t>Every transformation is a pure function; UDFs call them. This is what makes 87 unit tests meaningful and lets the whole pipeline run without Spark. Cost: a second native implementation of the KPIs, cross-checked automatically.</a:t>
            </a:r>
            <a:endParaRPr lang="en-US" sz="1100" dirty="0"/>
          </a:p>
        </p:txBody>
      </p:sp>
      <p:sp>
        <p:nvSpPr>
          <p:cNvPr id="6" name="Text 4"/>
          <p:cNvSpPr/>
          <p:nvPr/>
        </p:nvSpPr>
        <p:spPr>
          <a:xfrm>
            <a:off x="548640" y="2743200"/>
            <a:ext cx="6675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At-least-once + idempotent sinks</a:t>
            </a:r>
            <a:endParaRPr lang="en-US" sz="1350" dirty="0"/>
          </a:p>
        </p:txBody>
      </p:sp>
      <p:sp>
        <p:nvSpPr>
          <p:cNvPr id="7" name="Text 5"/>
          <p:cNvSpPr/>
          <p:nvPr/>
        </p:nvSpPr>
        <p:spPr>
          <a:xfrm>
            <a:off x="548640" y="3017520"/>
            <a:ext cx="6675120" cy="566928"/>
          </a:xfrm>
          <a:prstGeom prst="rect">
            <a:avLst/>
          </a:prstGeom>
          <a:noFill/>
          <a:ln/>
        </p:spPr>
        <p:txBody>
          <a:bodyPr wrap="square" lIns="0" tIns="0" rIns="0" bIns="0" rtlCol="0" anchor="ctr"/>
          <a:lstStyle/>
          <a:p>
            <a:pPr indent="0" marL="0">
              <a:buNone/>
            </a:pPr>
            <a:r>
              <a:rPr lang="en-US" sz="1100" dirty="0">
                <a:solidFill>
                  <a:srgbClr val="5A6485"/>
                </a:solidFill>
                <a:latin typeface="Calibri" pitchFamily="34" charset="0"/>
                <a:ea typeface="Calibri" pitchFamily="34" charset="-122"/>
                <a:cs typeface="Calibri" pitchFamily="34" charset="-120"/>
              </a:rPr>
              <a:t>Cheaper than transactional exactly-once, and the end state is identical because ticket_id is a content hash.</a:t>
            </a:r>
            <a:endParaRPr lang="en-US" sz="1100" dirty="0"/>
          </a:p>
        </p:txBody>
      </p:sp>
      <p:sp>
        <p:nvSpPr>
          <p:cNvPr id="8" name="Text 6"/>
          <p:cNvSpPr/>
          <p:nvPr/>
        </p:nvSpPr>
        <p:spPr>
          <a:xfrm>
            <a:off x="548640" y="3703320"/>
            <a:ext cx="6675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Exact k-NN offline, HNSW in Elasticsearch</a:t>
            </a:r>
            <a:endParaRPr lang="en-US" sz="1350" dirty="0"/>
          </a:p>
        </p:txBody>
      </p:sp>
      <p:sp>
        <p:nvSpPr>
          <p:cNvPr id="9" name="Text 7"/>
          <p:cNvSpPr/>
          <p:nvPr/>
        </p:nvSpPr>
        <p:spPr>
          <a:xfrm>
            <a:off x="548640" y="3977640"/>
            <a:ext cx="6675120" cy="566928"/>
          </a:xfrm>
          <a:prstGeom prst="rect">
            <a:avLst/>
          </a:prstGeom>
          <a:noFill/>
          <a:ln/>
        </p:spPr>
        <p:txBody>
          <a:bodyPr wrap="square" lIns="0" tIns="0" rIns="0" bIns="0" rtlCol="0" anchor="ctr"/>
          <a:lstStyle/>
          <a:p>
            <a:pPr indent="0" marL="0">
              <a:buNone/>
            </a:pPr>
            <a:r>
              <a:rPr lang="en-US" sz="1100" dirty="0">
                <a:solidFill>
                  <a:srgbClr val="5A6485"/>
                </a:solidFill>
                <a:latin typeface="Calibri" pitchFamily="34" charset="0"/>
                <a:ea typeface="Calibri" pitchFamily="34" charset="-122"/>
                <a:cs typeface="Calibri" pitchFamily="34" charset="-120"/>
              </a:rPr>
              <a:t>At 28k documents brute force is fast and removes approximate-recall as a confound when comparing against BM25.</a:t>
            </a:r>
            <a:endParaRPr lang="en-US" sz="1100" dirty="0"/>
          </a:p>
        </p:txBody>
      </p:sp>
      <p:sp>
        <p:nvSpPr>
          <p:cNvPr id="10" name="Text 8"/>
          <p:cNvSpPr/>
          <p:nvPr/>
        </p:nvSpPr>
        <p:spPr>
          <a:xfrm>
            <a:off x="548640" y="4663440"/>
            <a:ext cx="66751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Macro-F1 reported alongside accuracy</a:t>
            </a:r>
            <a:endParaRPr lang="en-US" sz="1350" dirty="0"/>
          </a:p>
        </p:txBody>
      </p:sp>
      <p:sp>
        <p:nvSpPr>
          <p:cNvPr id="11" name="Text 9"/>
          <p:cNvSpPr/>
          <p:nvPr/>
        </p:nvSpPr>
        <p:spPr>
          <a:xfrm>
            <a:off x="548640" y="4937760"/>
            <a:ext cx="6675120" cy="566928"/>
          </a:xfrm>
          <a:prstGeom prst="rect">
            <a:avLst/>
          </a:prstGeom>
          <a:noFill/>
          <a:ln/>
        </p:spPr>
        <p:txBody>
          <a:bodyPr wrap="square" lIns="0" tIns="0" rIns="0" bIns="0" rtlCol="0" anchor="ctr"/>
          <a:lstStyle/>
          <a:p>
            <a:pPr indent="0" marL="0">
              <a:buNone/>
            </a:pPr>
            <a:r>
              <a:rPr lang="en-US" sz="1100" dirty="0">
                <a:solidFill>
                  <a:srgbClr val="5A6485"/>
                </a:solidFill>
                <a:latin typeface="Calibri" pitchFamily="34" charset="0"/>
                <a:ea typeface="Calibri" pitchFamily="34" charset="-122"/>
                <a:cs typeface="Calibri" pitchFamily="34" charset="-120"/>
              </a:rPr>
              <a:t>With a 29.3% majority class, accuracy alone would have made the keyword rules look nearly as good as k-NN.</a:t>
            </a:r>
            <a:endParaRPr lang="en-US" sz="1100" dirty="0"/>
          </a:p>
        </p:txBody>
      </p:sp>
      <p:sp>
        <p:nvSpPr>
          <p:cNvPr id="12" name="Shape 10"/>
          <p:cNvSpPr/>
          <p:nvPr/>
        </p:nvSpPr>
        <p:spPr>
          <a:xfrm>
            <a:off x="7589520" y="1783080"/>
            <a:ext cx="4023360" cy="2286000"/>
          </a:xfrm>
          <a:prstGeom prst="roundRect">
            <a:avLst>
              <a:gd name="adj" fmla="val 3200"/>
            </a:avLst>
          </a:prstGeom>
          <a:solidFill>
            <a:srgbClr val="C1443C"/>
          </a:solidFill>
          <a:ln w="12700">
            <a:solidFill>
              <a:srgbClr val="C1443C"/>
            </a:solidFill>
            <a:prstDash val="solid"/>
          </a:ln>
        </p:spPr>
      </p:sp>
      <p:sp>
        <p:nvSpPr>
          <p:cNvPr id="13" name="Text 11"/>
          <p:cNvSpPr/>
          <p:nvPr/>
        </p:nvSpPr>
        <p:spPr>
          <a:xfrm>
            <a:off x="7772400" y="1901952"/>
            <a:ext cx="36576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Weakest link</a:t>
            </a:r>
            <a:endParaRPr lang="en-US" sz="1400" dirty="0"/>
          </a:p>
        </p:txBody>
      </p:sp>
      <p:sp>
        <p:nvSpPr>
          <p:cNvPr id="14" name="Text 12"/>
          <p:cNvSpPr/>
          <p:nvPr/>
        </p:nvSpPr>
        <p:spPr>
          <a:xfrm>
            <a:off x="7772400" y="2286000"/>
            <a:ext cx="3657600" cy="16916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proxy relevance metric. Shared tags reward topical similarity — right for routing and deduplication — but they under-credit a system that retrieves a solution phrased differently from the problem. Human judgements on a few hundred queries is the honest fix, and the first thing we would add.</a:t>
            </a:r>
            <a:endParaRPr lang="en-US" sz="1100" dirty="0"/>
          </a:p>
        </p:txBody>
      </p:sp>
      <p:sp>
        <p:nvSpPr>
          <p:cNvPr id="15" name="Shape 13"/>
          <p:cNvSpPr/>
          <p:nvPr/>
        </p:nvSpPr>
        <p:spPr>
          <a:xfrm>
            <a:off x="7589520" y="4297680"/>
            <a:ext cx="4023360" cy="1417320"/>
          </a:xfrm>
          <a:prstGeom prst="roundRect">
            <a:avLst>
              <a:gd name="adj" fmla="val 5161"/>
            </a:avLst>
          </a:prstGeom>
          <a:solidFill>
            <a:srgbClr val="F4F6FB"/>
          </a:solidFill>
          <a:ln w="12700">
            <a:solidFill>
              <a:srgbClr val="F4F6FB"/>
            </a:solidFill>
            <a:prstDash val="solid"/>
          </a:ln>
        </p:spPr>
      </p:sp>
      <p:sp>
        <p:nvSpPr>
          <p:cNvPr id="16" name="Text 14"/>
          <p:cNvSpPr/>
          <p:nvPr/>
        </p:nvSpPr>
        <p:spPr>
          <a:xfrm>
            <a:off x="7772400" y="4407408"/>
            <a:ext cx="3657600" cy="274320"/>
          </a:xfrm>
          <a:prstGeom prst="rect">
            <a:avLst/>
          </a:prstGeom>
          <a:noFill/>
          <a:ln/>
        </p:spPr>
        <p:txBody>
          <a:bodyPr wrap="square" lIns="0" tIns="0" rIns="0" bIns="0" rtlCol="0" anchor="ctr"/>
          <a:lstStyle/>
          <a:p>
            <a:pPr indent="0" marL="0">
              <a:buNone/>
            </a:pPr>
            <a:r>
              <a:rPr lang="en-US" sz="1300" b="1" dirty="0">
                <a:solidFill>
                  <a:srgbClr val="16203F"/>
                </a:solidFill>
                <a:latin typeface="Calibri" pitchFamily="34" charset="0"/>
                <a:ea typeface="Calibri" pitchFamily="34" charset="-122"/>
                <a:cs typeface="Calibri" pitchFamily="34" charset="-120"/>
              </a:rPr>
              <a:t>Honest scope</a:t>
            </a:r>
            <a:endParaRPr lang="en-US" sz="1300" dirty="0"/>
          </a:p>
        </p:txBody>
      </p:sp>
      <p:sp>
        <p:nvSpPr>
          <p:cNvPr id="17" name="Text 15"/>
          <p:cNvSpPr/>
          <p:nvPr/>
        </p:nvSpPr>
        <p:spPr>
          <a:xfrm>
            <a:off x="7772400" y="4709160"/>
            <a:ext cx="3657600" cy="914400"/>
          </a:xfrm>
          <a:prstGeom prst="rect">
            <a:avLst/>
          </a:prstGeom>
          <a:noFill/>
          <a:ln/>
        </p:spPr>
        <p:txBody>
          <a:bodyPr wrap="square" lIns="0" tIns="0" rIns="0" bIns="0" rtlCol="0" anchor="ctr"/>
          <a:lstStyle/>
          <a:p>
            <a:pPr indent="0" marL="0">
              <a:buNone/>
            </a:pPr>
            <a:r>
              <a:rPr lang="en-US" sz="1050" dirty="0">
                <a:solidFill>
                  <a:srgbClr val="5A6485"/>
                </a:solidFill>
                <a:latin typeface="Calibri" pitchFamily="34" charset="0"/>
                <a:ea typeface="Calibri" pitchFamily="34" charset="-122"/>
                <a:cs typeface="Calibri" pitchFamily="34" charset="-120"/>
              </a:rPr>
              <a:t>87 unit tests pass and the pipeline ran end to end over all 28,587 rows. The Docker stack, the Spark jobs and the Elasticsearch writes have since been run and verified against the live stack — see docs/DEMO.md.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685800"/>
            <a:ext cx="105156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Demo</a:t>
            </a:r>
            <a:endParaRPr lang="en-US" sz="3800" dirty="0"/>
          </a:p>
        </p:txBody>
      </p:sp>
      <p:sp>
        <p:nvSpPr>
          <p:cNvPr id="3" name="Text 1"/>
          <p:cNvSpPr/>
          <p:nvPr/>
        </p:nvSpPr>
        <p:spPr>
          <a:xfrm>
            <a:off x="822960" y="1554480"/>
            <a:ext cx="10424160" cy="292608"/>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GET /compare?q=security incident</a:t>
            </a:r>
            <a:endParaRPr lang="en-US" sz="1500" dirty="0"/>
          </a:p>
        </p:txBody>
      </p:sp>
      <p:sp>
        <p:nvSpPr>
          <p:cNvPr id="4" name="Text 2"/>
          <p:cNvSpPr/>
          <p:nvPr/>
        </p:nvSpPr>
        <p:spPr>
          <a:xfrm>
            <a:off x="822960" y="1847088"/>
            <a:ext cx="1042416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Keyword surfaces a German ticket on a coincidental word match; semantic finds the right English ticket sharing no words at all with the query.</a:t>
            </a:r>
            <a:endParaRPr lang="en-US" sz="1250" dirty="0"/>
          </a:p>
        </p:txBody>
      </p:sp>
      <p:sp>
        <p:nvSpPr>
          <p:cNvPr id="5" name="Text 3"/>
          <p:cNvSpPr/>
          <p:nvPr/>
        </p:nvSpPr>
        <p:spPr>
          <a:xfrm>
            <a:off x="822960" y="2450592"/>
            <a:ext cx="10424160" cy="292608"/>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POST /route</a:t>
            </a:r>
            <a:endParaRPr lang="en-US" sz="1500" dirty="0"/>
          </a:p>
        </p:txBody>
      </p:sp>
      <p:sp>
        <p:nvSpPr>
          <p:cNvPr id="6" name="Text 4"/>
          <p:cNvSpPr/>
          <p:nvPr/>
        </p:nvSpPr>
        <p:spPr>
          <a:xfrm>
            <a:off x="822960" y="2743200"/>
            <a:ext cx="1042416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Text: "I was charged twice for the same order and need a refund." k-NN returns Technical Support at 33% confidence (5 of 15 votes) — a live look at how confidence is actually computed.</a:t>
            </a:r>
            <a:endParaRPr lang="en-US" sz="1250" dirty="0"/>
          </a:p>
        </p:txBody>
      </p:sp>
      <p:sp>
        <p:nvSpPr>
          <p:cNvPr id="7" name="Text 5"/>
          <p:cNvSpPr/>
          <p:nvPr/>
        </p:nvSpPr>
        <p:spPr>
          <a:xfrm>
            <a:off x="822960" y="3346704"/>
            <a:ext cx="10424160" cy="292608"/>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POST /ask</a:t>
            </a:r>
            <a:endParaRPr lang="en-US" sz="1500" dirty="0"/>
          </a:p>
        </p:txBody>
      </p:sp>
      <p:sp>
        <p:nvSpPr>
          <p:cNvPr id="8" name="Text 6"/>
          <p:cNvSpPr/>
          <p:nvPr/>
        </p:nvSpPr>
        <p:spPr>
          <a:xfrm>
            <a:off x="822960" y="3639312"/>
            <a:ext cx="1042416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"What security incidents have been reported?" — answered only from retrieved tickets; invented citations are stripped before you see them.</a:t>
            </a:r>
            <a:endParaRPr lang="en-US" sz="1250" dirty="0"/>
          </a:p>
        </p:txBody>
      </p:sp>
      <p:sp>
        <p:nvSpPr>
          <p:cNvPr id="9" name="Text 7"/>
          <p:cNvSpPr/>
          <p:nvPr/>
        </p:nvSpPr>
        <p:spPr>
          <a:xfrm>
            <a:off x="822960" y="4242816"/>
            <a:ext cx="10424160" cy="292608"/>
          </a:xfrm>
          <a:prstGeom prst="rect">
            <a:avLst/>
          </a:prstGeom>
          <a:noFill/>
          <a:ln/>
        </p:spPr>
        <p:txBody>
          <a:bodyPr wrap="square" lIns="0" tIns="0" rIns="0" bIns="0" rtlCol="0" anchor="ctr"/>
          <a:lstStyle/>
          <a:p>
            <a:pPr indent="0" marL="0">
              <a:buNone/>
            </a:pPr>
            <a:r>
              <a:rPr lang="en-US" sz="1500" b="1" dirty="0">
                <a:solidFill>
                  <a:srgbClr val="E8A33D"/>
                </a:solidFill>
                <a:latin typeface="Calibri" pitchFamily="34" charset="0"/>
                <a:ea typeface="Calibri" pitchFamily="34" charset="-122"/>
                <a:cs typeface="Calibri" pitchFamily="34" charset="-120"/>
              </a:rPr>
              <a:t>GET /kpis</a:t>
            </a:r>
            <a:endParaRPr lang="en-US" sz="1500" dirty="0"/>
          </a:p>
        </p:txBody>
      </p:sp>
      <p:sp>
        <p:nvSpPr>
          <p:cNvPr id="10" name="Text 8"/>
          <p:cNvSpPr/>
          <p:nvPr/>
        </p:nvSpPr>
        <p:spPr>
          <a:xfrm>
            <a:off x="822960" y="4535424"/>
            <a:ext cx="10424160" cy="45720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Computed aggregates over the gold layer — queue volumes, sentiment, high-priority concentration — served straight from output/kpis.json or Elasticsearch.</a:t>
            </a:r>
            <a:endParaRPr lang="en-US" sz="1250" dirty="0"/>
          </a:p>
        </p:txBody>
      </p:sp>
      <p:sp>
        <p:nvSpPr>
          <p:cNvPr id="11" name="Shape 9"/>
          <p:cNvSpPr/>
          <p:nvPr/>
        </p:nvSpPr>
        <p:spPr>
          <a:xfrm>
            <a:off x="822960" y="5257800"/>
            <a:ext cx="10515600" cy="45720"/>
          </a:xfrm>
          <a:prstGeom prst="roundRect">
            <a:avLst/>
          </a:prstGeom>
          <a:solidFill>
            <a:srgbClr val="E8A33D"/>
          </a:solidFill>
          <a:ln w="12700">
            <a:solidFill>
              <a:srgbClr val="E8A33D"/>
            </a:solidFill>
            <a:prstDash val="solid"/>
          </a:ln>
        </p:spPr>
      </p:sp>
      <p:sp>
        <p:nvSpPr>
          <p:cNvPr id="12" name="Text 10"/>
          <p:cNvSpPr/>
          <p:nvPr/>
        </p:nvSpPr>
        <p:spPr>
          <a:xfrm>
            <a:off x="822960" y="5486400"/>
            <a:ext cx="10515600" cy="45720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Fallback: `python -m tickets.offline_pipeline` reproduces every number in this deck with no Docker, no API key and no network.</a:t>
            </a:r>
            <a:endParaRPr lang="en-US" sz="1250" dirty="0"/>
          </a:p>
        </p:txBody>
      </p:sp>
      <p:sp>
        <p:nvSpPr>
          <p:cNvPr id="13" name="Text 11"/>
          <p:cNvSpPr/>
          <p:nvPr/>
        </p:nvSpPr>
        <p:spPr>
          <a:xfrm>
            <a:off x="822960" y="6035040"/>
            <a:ext cx="10515600" cy="320040"/>
          </a:xfrm>
          <a:prstGeom prst="rect">
            <a:avLst/>
          </a:prstGeom>
          <a:noFill/>
          <a:ln/>
        </p:spPr>
        <p:txBody>
          <a:bodyPr wrap="square" lIns="0" tIns="0" rIns="0" bIns="0" rtlCol="0" anchor="ctr"/>
          <a:lstStyle/>
          <a:p>
            <a:pPr indent="0" marL="0">
              <a:buNone/>
            </a:pPr>
            <a:r>
              <a:rPr lang="en-US" sz="1150" dirty="0">
                <a:solidFill>
                  <a:srgbClr val="5A6485"/>
                </a:solidFill>
                <a:latin typeface="Calibri" pitchFamily="34" charset="0"/>
                <a:ea typeface="Calibri" pitchFamily="34" charset="-122"/>
                <a:cs typeface="Calibri" pitchFamily="34" charset="-120"/>
              </a:rPr>
              <a:t>github.com/yaeldorin-glitch/biu-bigdata-support-tickets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 Intelligence - Big Data &amp; AI</dc:title>
  <dc:subject>PptxGenJS Presentation</dc:subject>
  <dc:creator>Yael Cohen, Itay Nuri, Yahel Menachem</dc:creator>
  <cp:lastModifiedBy>Yael Cohen, Itay Nuri, Yahel Menachem</cp:lastModifiedBy>
  <cp:revision>1</cp:revision>
  <dcterms:created xsi:type="dcterms:W3CDTF">2026-08-17T19:25:43Z</dcterms:created>
  <dcterms:modified xsi:type="dcterms:W3CDTF">2026-08-17T19:25:43Z</dcterms:modified>
</cp:coreProperties>
</file>