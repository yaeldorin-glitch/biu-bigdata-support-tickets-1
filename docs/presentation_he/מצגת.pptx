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2B6F5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1A2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דומיננטי</c:v>
                  </c:pt>
                  <c:pt idx="1">
                    <c:v>חוקים</c:v>
                  </c:pt>
                  <c:pt idx="2">
                    <c:v>מרכז-כובד</c:v>
                  </c:pt>
                  <c:pt idx="3">
                    <c:v>k-NN נוירוני</c:v>
                  </c:pt>
                  <c:pt idx="4">
                    <c:v>SVM לינארי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29.2</c:v>
                </c:pt>
                <c:pt idx="1">
                  <c:v>27.4</c:v>
                </c:pt>
                <c:pt idx="2">
                  <c:v>22</c:v>
                </c:pt>
                <c:pt idx="3">
                  <c:v>64.6</c:v>
                </c:pt>
                <c:pt idx="4">
                  <c:v>64.8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61A2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61A22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5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6577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LSA (אופליין)</c:v>
                </c:pt>
              </c:strCache>
            </c:strRef>
          </c:tx>
          <c:spPr>
            <a:solidFill>
              <a:srgbClr val="9C6A1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Queue purity@5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0.294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נוירוני</c:v>
                </c:pt>
              </c:strCache>
            </c:strRef>
          </c:tx>
          <c:spPr>
            <a:solidFill>
              <a:srgbClr val="2B6F5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Queue purity@5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0.346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5B4B8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Queue purity@5</c:v>
                  </c:pt>
                </c:lvl>
              </c:multiLvlStrCache>
            </c:multiLvl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0.322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61A2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6577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אחוז תיוג שגוי</c:v>
                </c:pt>
              </c:strCache>
            </c:strRef>
          </c:tx>
          <c:spPr>
            <a:solidFill>
              <a:srgbClr val="9C6A1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גרמנית (de)</c:v>
                  </c:pt>
                  <c:pt idx="1">
                    <c:v>אנגלית (en)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27.2</c:v>
                </c:pt>
                <c:pt idx="1">
                  <c:v>0.05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61A2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6577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chart" Target="..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3317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spc="150" kern="0" dirty="0">
                <a:solidFill>
                  <a:srgbClr val="8FA6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BIU 8688697201  ·  BIG DATA AND AI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269748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Ticket Intelligence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731520" y="379476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C9D3D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צנרת נתונים מקצה-לקצה מעל 28,587 כרטיסי תמיכה, עם שכבת AI לניתוב וחיפוש סמנטי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8FA6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יעל כהן  ·  איתי נורי  ·  יהל מנחם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spc="100" kern="0" dirty="0">
                <a:solidFill>
                  <a:srgbClr val="2B6F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נקודת המוצא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161A2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הבעיה שהפרויקט פותר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65836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700" dirty="0">
                <a:solidFill>
                  <a:srgbClr val="161A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ארגון תמיכה מקבל פניות כטקסט חופשי. יש לזה שתי עלויות: מישהו צריך להחליט לאיזה צוות (queue) כל פנייה שייכת, וסוכנים פותרים מחדש בעיות שהארגון כבר פתר בעבר.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6583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i="1" dirty="0">
                <a:solidFill>
                  <a:srgbClr val="5C65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שתי אלה הן בעיות של הבנת טקסט — לא בעיות ש-SQL רגיל פותר טוב.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406640" y="1737360"/>
            <a:ext cx="42062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589520" y="1810512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2B6F5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28,587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7589520" y="228600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C65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כרטיסים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406640" y="2880360"/>
            <a:ext cx="42062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89520" y="2953512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2B6F5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57% / 43%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7589520" y="342900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C65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אנגלית / גרמנית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406640" y="4023360"/>
            <a:ext cx="42062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589520" y="4096512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2B6F5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10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7589520" y="457200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C65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צוותי יעד (queues)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5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Ticket Intelligence · BIU 8688697201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52144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5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spc="100" kern="0" dirty="0">
                <a:solidFill>
                  <a:srgbClr val="2B6F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החלק שהוכח בפועל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161A2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הארכיטקטורה: חמש תחנות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743200"/>
            <a:ext cx="1965960" cy="1371600"/>
          </a:xfrm>
          <a:prstGeom prst="roundRect">
            <a:avLst>
              <a:gd name="adj" fmla="val 6667"/>
            </a:avLst>
          </a:prstGeom>
          <a:solidFill>
            <a:srgbClr val="E3F1EC"/>
          </a:solidFill>
          <a:ln w="15875">
            <a:solidFill>
              <a:srgbClr val="2B6F5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743200"/>
            <a:ext cx="1965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2B6F5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Kafka</a:t>
            </a:r>
            <a:endParaRPr lang="en-US" sz="1600" dirty="0"/>
          </a:p>
          <a:p>
            <a:pPr algn="ctr"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2B6F5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כניסה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514600" y="2743200"/>
            <a:ext cx="25603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C65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2770632" y="2743200"/>
            <a:ext cx="1965960" cy="1371600"/>
          </a:xfrm>
          <a:prstGeom prst="roundRect">
            <a:avLst>
              <a:gd name="adj" fmla="val 6667"/>
            </a:avLst>
          </a:prstGeom>
          <a:solidFill>
            <a:srgbClr val="E3F1EC"/>
          </a:solidFill>
          <a:ln w="15875">
            <a:solidFill>
              <a:srgbClr val="2B6F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70632" y="2743200"/>
            <a:ext cx="1965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2B6F5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Spark</a:t>
            </a:r>
            <a:endParaRPr lang="en-US" sz="1600" dirty="0"/>
          </a:p>
          <a:p>
            <a:pPr algn="ctr"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2B6F5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עיבוד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736592" y="2743200"/>
            <a:ext cx="25603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C65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992624" y="2743200"/>
            <a:ext cx="1965960" cy="1371600"/>
          </a:xfrm>
          <a:prstGeom prst="roundRect">
            <a:avLst>
              <a:gd name="adj" fmla="val 6667"/>
            </a:avLst>
          </a:prstGeom>
          <a:solidFill>
            <a:srgbClr val="E3F1EC"/>
          </a:solidFill>
          <a:ln w="15875">
            <a:solidFill>
              <a:srgbClr val="2B6F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92624" y="2743200"/>
            <a:ext cx="1965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2B6F5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MinIO</a:t>
            </a:r>
            <a:endParaRPr lang="en-US" sz="1600" dirty="0"/>
          </a:p>
          <a:p>
            <a:pPr algn="ctr"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2B6F5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אחסון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958584" y="2743200"/>
            <a:ext cx="25603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C65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7214616" y="2743200"/>
            <a:ext cx="1965960" cy="1371600"/>
          </a:xfrm>
          <a:prstGeom prst="roundRect">
            <a:avLst>
              <a:gd name="adj" fmla="val 6667"/>
            </a:avLst>
          </a:prstGeom>
          <a:solidFill>
            <a:srgbClr val="E3F1EC"/>
          </a:solidFill>
          <a:ln w="15875">
            <a:solidFill>
              <a:srgbClr val="2B6F5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214616" y="2743200"/>
            <a:ext cx="1965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2B6F5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Elasticsearch</a:t>
            </a:r>
            <a:endParaRPr lang="en-US" sz="1600" dirty="0"/>
          </a:p>
          <a:p>
            <a:pPr algn="ctr"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2B6F5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חיפוש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9180576" y="2743200"/>
            <a:ext cx="25603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C65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9436608" y="2743200"/>
            <a:ext cx="1965960" cy="1371600"/>
          </a:xfrm>
          <a:prstGeom prst="roundRect">
            <a:avLst>
              <a:gd name="adj" fmla="val 6667"/>
            </a:avLst>
          </a:prstGeom>
          <a:solidFill>
            <a:srgbClr val="E3F1EC"/>
          </a:solidFill>
          <a:ln w="15875">
            <a:solidFill>
              <a:srgbClr val="2B6F5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36608" y="2743200"/>
            <a:ext cx="1965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2B6F5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FastAPI</a:t>
            </a:r>
            <a:endParaRPr lang="en-US" sz="1600" dirty="0"/>
          </a:p>
          <a:p>
            <a:pPr algn="ctr"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2B6F5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שירות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48640" y="173736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C65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Kaggle CSV  →  Kafka (tickets.raw)  →  Spark Structured Streaming  →  MinIO bronze/silver  →  Elasticsearch  →  FastAPI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448056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i="1" dirty="0">
                <a:solidFill>
                  <a:srgbClr val="161A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ELT ולא ETL: ה-broker שומר אמת גולמית, וכל הטרנספורמציה קורית בהמשך ב-Spark — בכוונה.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48640" y="51206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5B4B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טכנולוגיות הקורס בשימוש:  Kafka   ·   Spark Structured Streaming   ·   MinIO (Object Store)   ·   Elasticsearch (NoSQL + Vector)   ·   Docker Compose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5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Ticket Intelligence · BIU 8688697201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52144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5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spc="100" kern="0" dirty="0">
                <a:solidFill>
                  <a:srgbClr val="2B6F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חלק B במסמך הקורס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161A2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יכולת ה-AI — שלוש יכולות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9496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25400">
            <a:solidFill>
              <a:srgbClr val="2B6F5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984248"/>
            <a:ext cx="1463040" cy="384048"/>
          </a:xfrm>
          <a:prstGeom prst="roundRect">
            <a:avLst>
              <a:gd name="adj" fmla="val 19048"/>
            </a:avLst>
          </a:prstGeom>
          <a:solidFill>
            <a:srgbClr val="E3F1EC"/>
          </a:solidFill>
          <a:ln w="12700">
            <a:solidFill>
              <a:srgbClr val="E3F1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984248"/>
            <a:ext cx="1463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6F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מרכזי · b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77240" y="246888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61A2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Embeddings וחיפוש סמנטי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2834640"/>
            <a:ext cx="4937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C65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מודל רב-לשוני הופך כל כרטיס ל-384 מספרים; אנגלית וגרמנית חולקות אותה מפה משמעות.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17920" y="1783080"/>
            <a:ext cx="539496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46520" y="1984248"/>
            <a:ext cx="1463040" cy="384048"/>
          </a:xfrm>
          <a:prstGeom prst="roundRect">
            <a:avLst>
              <a:gd name="adj" fmla="val 19048"/>
            </a:avLst>
          </a:prstGeom>
          <a:solidFill>
            <a:srgbClr val="E3F1EC"/>
          </a:solidFill>
          <a:ln w="12700">
            <a:solidFill>
              <a:srgbClr val="E3F1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1984248"/>
            <a:ext cx="1463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6F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46520" y="246888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61A2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RAG — שאלות ותשובות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46520" y="2834640"/>
            <a:ext cx="4937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C65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LLM עונה רק מתוך כרטיסים שאוחזרו בפועל; ציטוטים מומצאים נמחקים אוטומטית.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3749040"/>
            <a:ext cx="539496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77240" y="3950208"/>
            <a:ext cx="1463040" cy="384048"/>
          </a:xfrm>
          <a:prstGeom prst="roundRect">
            <a:avLst>
              <a:gd name="adj" fmla="val 19048"/>
            </a:avLst>
          </a:prstGeom>
          <a:solidFill>
            <a:srgbClr val="E3F1EC"/>
          </a:solidFill>
          <a:ln w="12700">
            <a:solidFill>
              <a:srgbClr val="E3F1E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3950208"/>
            <a:ext cx="1463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6F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77240" y="443484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61A2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ניתוב — למידת מכונה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77240" y="4800600"/>
            <a:ext cx="4937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C65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k-NN על הווקטורים ו-SVM לינארי, חשופים זה-לצד-זה.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5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Ticket Intelligence · BIU 8688697201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52144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5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spc="100" kern="0" dirty="0">
                <a:solidFill>
                  <a:srgbClr val="2B6F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מדדים על 28,587 כרטיסים אמיתיים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161A2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תוצאות: ניתוב (queue)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91640"/>
          <a:ext cx="658368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7406640" y="173736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61A2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שני דברים ששווה להגיד בקול: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7406640" y="2194560"/>
            <a:ext cx="42062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350" dirty="0">
                <a:solidFill>
                  <a:srgbClr val="161A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חוקי מילות-מפתח (27.4%) מפסידים לניחוש קבוע (29.2%) — למרות שיש בהם אות אמיתי (macro-F1 גבוה יותר: 0.208 מול 0.045).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7406640" y="3566160"/>
            <a:ext cx="42062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350" dirty="0">
                <a:solidFill>
                  <a:srgbClr val="161A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SVM לינארי (64.8%) כמעט זהה ל-k-NN הנוירוני (64.6%) — מודל קלאסי, זול הרבה יותר, בלי embedding בכלל.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5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Ticket Intelligence · BIU 8688697201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52144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5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spc="100" kern="0" dirty="0">
                <a:solidFill>
                  <a:srgbClr val="2B6F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אותם 28,587 כרטיסים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161A2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תוצאות: שליפה — והתהפכות מעניינת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91640"/>
          <a:ext cx="60350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858000" y="1691640"/>
            <a:ext cx="4754880" cy="4114800"/>
          </a:xfrm>
          <a:prstGeom prst="roundRect">
            <a:avLst>
              <a:gd name="adj" fmla="val 1778"/>
            </a:avLst>
          </a:prstGeom>
          <a:solidFill>
            <a:srgbClr val="ECE8F5"/>
          </a:solidFill>
          <a:ln w="12700">
            <a:solidFill>
              <a:srgbClr val="ECE8F5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132320" y="1920240"/>
            <a:ext cx="42062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B4B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עם ה-embedding האופליין (LSA), חיפוש סמנטי הפסיד ל-BM25.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132320" y="2606040"/>
            <a:ext cx="42062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250" dirty="0">
                <a:solidFill>
                  <a:srgbClr val="161A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LSA הוא הטלה לינארית של אותה סטטיסטיקת מונחים ש-BM25 כבר מנקד — לא מוסיף ידע חיצוני.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132320" y="3520440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B4B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עם המודל הנוירוני, סמנטי מנצח, וההיברידי (RRF) מנצח את שניהם: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132320" y="402336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61A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Purity@5: 0.352   ·   Precision@5: 0.758   ·   MRR: 0.876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5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Ticket Intelligence · BIU 8688697201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52144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5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spc="100" kern="0" dirty="0">
                <a:solidFill>
                  <a:srgbClr val="2B6F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מה המספרים חושפים על העסק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161A2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תובנות תפעוליות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91640"/>
          <a:ext cx="530352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80644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61A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תיוג השפה שבור בכיוון אחד בלבד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6126480" y="1691640"/>
            <a:ext cx="5486400" cy="1920240"/>
          </a:xfrm>
          <a:prstGeom prst="roundRect">
            <a:avLst>
              <a:gd name="adj" fmla="val 3810"/>
            </a:avLst>
          </a:prstGeom>
          <a:solidFill>
            <a:srgbClr val="F6ECD9"/>
          </a:solidFill>
          <a:ln w="12700">
            <a:solidFill>
              <a:srgbClr val="F6ECD9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920240"/>
            <a:ext cx="48463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161A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יותר מרבע מהקורפוס ה"גרמני" הוא בעצם טקסט אנגלי — פגם ספציפי במעלה הזרם, לא רעש אקראי.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126480" y="3794760"/>
            <a:ext cx="5486400" cy="2011680"/>
          </a:xfrm>
          <a:prstGeom prst="roundRect">
            <a:avLst>
              <a:gd name="adj" fmla="val 3636"/>
            </a:avLst>
          </a:prstGeom>
          <a:solidFill>
            <a:srgbClr val="E3F1EC"/>
          </a:solidFill>
          <a:ln w="12700">
            <a:solidFill>
              <a:srgbClr val="E3F1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0" y="4023360"/>
            <a:ext cx="48463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B6F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 Outages and Maintenance: 4.0% מהנפח, אבל 71.0% high priority.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0" y="475488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161A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איוש לפי נפח היה מרעיב את התור הזה משמעותית.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5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Ticket Intelligence · BIU 8688697201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52144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5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61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spc="100" kern="0" dirty="0">
                <a:solidFill>
                  <a:srgbClr val="2B6F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עכשיו בלייב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הדגמה חיה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31520" y="17830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6FD7B3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GET /compare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200400" y="17830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E7E9EE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q: "security incident"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31520" y="21671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מילולי מעלה כרטיס גרמני שגוי (מילה נדמתה) · סמנטי מוצא את הנכון בלי אף מילה משותפת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301752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6FD7B3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POST /route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200400" y="30175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E7E9EE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טקסט: "...charged twice for the same order...need a refund"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31520" y="340156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k-NN: Technical Support · confidence 33% (5 מתוך 15 קולות — לא ניחוש בטוח, וזה נתון שימושי בפני עצמו)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425196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6FD7B3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POST /ask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200400" y="42519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E7E9EE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שאלה: "What security incidents have been reported?"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731520" y="463600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תשובה מורכבת מכרטיסים אמיתיים בלבד · כל ציטוט ניתן לבדיקה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5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Ticket Intelligence · BIU 8688697201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52144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5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spc="100" kern="0" dirty="0">
                <a:solidFill>
                  <a:srgbClr val="2B6F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ביושר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161A2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מה הפרויקט לא מתיימר להיות מושלם בו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64240" cy="2148840"/>
          </a:xfrm>
          <a:prstGeom prst="roundRect">
            <a:avLst>
              <a:gd name="adj" fmla="val 3404"/>
            </a:avLst>
          </a:prstGeom>
          <a:solidFill>
            <a:srgbClr val="E3F1EC"/>
          </a:solidFill>
          <a:ln w="12700">
            <a:solidFill>
              <a:srgbClr val="E3F1E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0116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2B6F5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הבדיקה הבין-לשונית הראשונית לא עבדה — ותוקנה ונמדדה מחדש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22960" y="2487168"/>
            <a:ext cx="1051560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161A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12,249 כרטיסים גרמניים "מציפים" כל שאילתה גרמנית לא-מוגבלת לפני שהיכולת הבין-לשונית מקבלת סיכוי — פגם בבדיקה, לא במודל. התיקון: הגבלת מאגר המועמדים לשפה השנייה לפני הדירוג, נמדד עם אותו מדד רלוונטיות בדיוק כמו הטבלה הראשית, על כל 28,587 הכרטיסים (250 שאילתות).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822960" y="3429000"/>
            <a:ext cx="292608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3429000"/>
            <a:ext cx="2926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C65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לפני (לא-מוגבל): ~0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886200" y="3429000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B6F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434840" y="3429000"/>
            <a:ext cx="36576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34840" y="3429000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6F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אחרי (מסונן, סמנטי): 0.685 P@5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22960" y="38862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i="1" dirty="0">
                <a:solidFill>
                  <a:srgbClr val="5C65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מול מילולי (BM25) באותה בדיקה: 0.660 — פער של 2.5 נקודות, רחב יותר מהפער בשליפה הרגילה (1.6 נק')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4160520"/>
            <a:ext cx="11064240" cy="1600200"/>
          </a:xfrm>
          <a:prstGeom prst="roundRect">
            <a:avLst>
              <a:gd name="adj" fmla="val 4571"/>
            </a:avLst>
          </a:prstGeom>
          <a:solidFill>
            <a:srgbClr val="F6ECD9"/>
          </a:solidFill>
          <a:ln w="12700">
            <a:solidFill>
              <a:srgbClr val="F6EC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4343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9C6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מדד הרלוונטיות הוא החוליה החלשה — עדיין פתוח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22960" y="4828032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161A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תגיות משותפות מתגמלות דמיון נושאי, אבל יכולות להעניש-חסר פתרון שמנוסח אחרת מהבעיה. הערכה אנושית על מדגם שאילתות הייתה התיקון הכן.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5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Ticket Intelligence · BIU 8688697201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52144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5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61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28600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תודה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731520" y="329184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rgbClr val="C9D3D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שאלות?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FD7B3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Ticket Intelligence  ·  github.com/yaeldorin-glitch/biu-bigdata-support-tickets-1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Ticket Intelligence</dc:title>
  <dc:subject>PptxGenJS Presentation</dc:subject>
  <dc:creator>Ticket Intelligence</dc:creator>
  <cp:lastModifiedBy>Ticket Intelligence</cp:lastModifiedBy>
  <cp:revision>1</cp:revision>
  <dcterms:created xsi:type="dcterms:W3CDTF">2026-08-17T14:25:49Z</dcterms:created>
  <dcterms:modified xsi:type="dcterms:W3CDTF">2026-08-17T14:25:49Z</dcterms:modified>
</cp:coreProperties>
</file>