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B6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1A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דומיננטי</c:v>
                  </c:pt>
                  <c:pt idx="1">
                    <c:v>חוקים</c:v>
                  </c:pt>
                  <c:pt idx="2">
                    <c:v>מרכז-כובד</c:v>
                  </c:pt>
                  <c:pt idx="3">
                    <c:v>k-NN נוירוני</c:v>
                  </c:pt>
                  <c:pt idx="4">
                    <c:v>SVM לינארי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29.2</c:v>
                </c:pt>
                <c:pt idx="1">
                  <c:v>27.4</c:v>
                </c:pt>
                <c:pt idx="2">
                  <c:v>22</c:v>
                </c:pt>
                <c:pt idx="3">
                  <c:v>64.6</c:v>
                </c:pt>
                <c:pt idx="4">
                  <c:v>64.8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1A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1A22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LSA (אופליין)</c:v>
                </c:pt>
              </c:strCache>
            </c:strRef>
          </c:tx>
          <c:spPr>
            <a:solidFill>
              <a:srgbClr val="9C6A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Queue purity@5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0.294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נוירוני</c:v>
                </c:pt>
              </c:strCache>
            </c:strRef>
          </c:tx>
          <c:spPr>
            <a:solidFill>
              <a:srgbClr val="2B6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Queue purity@5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0.338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BM25</c:v>
                </c:pt>
              </c:strCache>
            </c:strRef>
          </c:tx>
          <c:spPr>
            <a:solidFill>
              <a:srgbClr val="5B4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Queue purity@5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0.325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1A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אחוז תיוג שגוי</c:v>
                </c:pt>
              </c:strCache>
            </c:strRef>
          </c:tx>
          <c:spPr>
            <a:solidFill>
              <a:srgbClr val="9C6A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גרמנית (de)</c:v>
                  </c:pt>
                  <c:pt idx="1">
                    <c:v>אנגלית (en)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27.2</c:v>
                </c:pt>
                <c:pt idx="1">
                  <c:v>0.05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1A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spc="150" kern="0" dirty="0">
                <a:solidFill>
                  <a:srgbClr val="8FA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BIU 8688697201  ·  BIG DATA AND AI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Ticket Intelligence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9D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צנרת נתונים מקצה-לקצה מעל 28,587 כרטיסי תמיכה, עם שכבת AI לניתוב וחיפוש סמנטי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8FA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שם 1  ·  שם 2  ·  שם 3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2B6F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נקודת המוצא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הבעיה שהפרויקט פותר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700" dirty="0">
                <a:solidFill>
                  <a:srgbClr val="161A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ארגון תמיכה מקבל פניות כטקסט חופשי. יש לזה שתי עלויות: מישהו צריך להחליט לאיזה צוות (queue) כל פנייה שייכת, וסוכנים פותרים מחדש בעיות שהארגון כבר פתר בעבר.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שתי אלה הן בעיות של הבנת טקסט — לא בעיות ש-SQL רגיל פותר טוב.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173736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8105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6F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28,587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58952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כרטיסים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0" y="288036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9535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6F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57% / 43%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589520" y="3429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אנגלית / גרמנית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0" y="402336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40965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6F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589520" y="4572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צוותי יעד (queues)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Intelligence · BIU 8688697201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2B6F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החלק שהוכח בפועל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הארכיטקטורה: חמש תחנות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3F1EC"/>
          </a:solidFill>
          <a:ln w="15875">
            <a:solidFill>
              <a:srgbClr val="2B6F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B6F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Kafka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B6F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כניסה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14600" y="274320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70632" y="27432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3F1EC"/>
          </a:solidFill>
          <a:ln w="15875">
            <a:solidFill>
              <a:srgbClr val="2B6F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274320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B6F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Spark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B6F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עיבוד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36592" y="274320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992624" y="27432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3F1EC"/>
          </a:solidFill>
          <a:ln w="15875">
            <a:solidFill>
              <a:srgbClr val="2B6F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2624" y="274320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B6F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MinIO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B6F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אחסון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58584" y="274320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214616" y="27432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3F1EC"/>
          </a:solidFill>
          <a:ln w="15875">
            <a:solidFill>
              <a:srgbClr val="2B6F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14616" y="274320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B6F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Elasticsearch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B6F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חיפוש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80576" y="274320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436608" y="27432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3F1EC"/>
          </a:solidFill>
          <a:ln w="15875">
            <a:solidFill>
              <a:srgbClr val="2B6F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36608" y="274320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B6F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FastAPI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B6F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שירות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Kaggle CSV  →  Kafka (tickets.raw)  →  Spark Structured Streaming  →  MinIO bronze/silver  →  Elasticsearch  →  FastAPI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161A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ELT ולא ETL: ה-broker שומר אמת גולמית, וכל הטרנספורמציה קורית בהמשך ב-Spark — בכוונה.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4B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טכנולוגיות הקורס בשימוש:  Kafka   ·   Spark Structured Streaming   ·   MinIO (Object Store)   ·   Elasticsearch (NoSQL + Vector)   ·   Docker Compose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Intelligence · BIU 8688697201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2B6F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חלק B במסמך הקורס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יכולת ה-AI — ארבע יכולות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25400">
            <a:solidFill>
              <a:srgbClr val="2B6F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8424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3F1EC"/>
          </a:solidFill>
          <a:ln w="12700">
            <a:solidFill>
              <a:srgbClr val="E3F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8424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F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מרכזי · 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1A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Embeddings וחיפוש סמנטי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מודל רב-לשוני הופך כל כרטיס ל-384 מספרים; אנגלית וגרמנית חולקות אותה מפה משמעות.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98424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3F1EC"/>
          </a:solidFill>
          <a:ln w="12700">
            <a:solidFill>
              <a:srgbClr val="E3F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8424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F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2468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1A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RAG — שאלות ותשובות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8346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עונה רק מתוך כרטיסים שאוחזרו בפועל; ציטוטים מומצאים נמחקים אוטומטית.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95020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3F1EC"/>
          </a:solidFill>
          <a:ln w="12700">
            <a:solidFill>
              <a:srgbClr val="E3F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502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F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1A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העשרת LLM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סיווג, חילוץ ישויות וסיכום — מאומת מול אוצר המילים הידוע לפני שנכנס לאינדקס.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95020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3F1EC"/>
          </a:solidFill>
          <a:ln w="12700">
            <a:solidFill>
              <a:srgbClr val="E3F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9502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F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434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61A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ניתוב — למידת מכונה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8006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k-NN על הווקטורים ו-SVM לינארי, חשופים זה-לצד-זה.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Intelligence · BIU 8688697201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2B6F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מדדים על 28,587 כרטיסים אמיתיים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תוצאות: ניתוב (queue)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61A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שני דברים ששווה להגיד בקול: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406640" y="219456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50" dirty="0">
                <a:solidFill>
                  <a:srgbClr val="161A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חוקי מילות-מפתח (27.4%) מפסידים לניחוש קבוע (29.2%) — למרות שיש בהם אות אמיתי (macro-F1 גבוה יותר: 0.208 מול 0.045).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406640" y="356616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50" dirty="0">
                <a:solidFill>
                  <a:srgbClr val="161A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SVM לינארי (64.8%) כמעט זהה ל-k-NN הנוירוני (64.6%) — מודל קלאסי, זול הרבה יותר, בלי embedding בכלל.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Intelligence · BIU 8688697201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2B6F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אותם 28,587 כרטיסים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תוצאות: שליפה — והתהפכות מעניינת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91640"/>
            <a:ext cx="4754880" cy="4114800"/>
          </a:xfrm>
          <a:prstGeom prst="roundRect">
            <a:avLst>
              <a:gd name="adj" fmla="val 1778"/>
            </a:avLst>
          </a:prstGeom>
          <a:solidFill>
            <a:srgbClr val="ECE8F5"/>
          </a:solidFill>
          <a:ln w="12700">
            <a:solidFill>
              <a:srgbClr val="ECE8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0" y="19202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4B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עם ה-embedding האופליין (LSA), חיפוש סמנטי הפסיד ל-BM25.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0" y="26060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50" dirty="0">
                <a:solidFill>
                  <a:srgbClr val="161A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LSA הוא הטלה לינארית של אותה סטטיסטיקת מונחים ש-BM25 כבר מנקד — לא מוסיף ידע חיצוני.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32320" y="35204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B4B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עם המודל הנוירוני, סמנטי מנצח, וההיברידי (RRF) מנצח את שניהם: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0" y="4023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1A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Purity@5: 0.351   ·   Precision@5: 0.755   ·   MRR: 0.865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Intelligence · BIU 8688697201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2B6F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מה המספרים חושפים על העסק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תובנות תפעוליות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1A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תיוג השפה שבור בכיוון אחד בלבד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126480" y="169164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6ECD9"/>
          </a:solidFill>
          <a:ln w="12700">
            <a:solidFill>
              <a:srgbClr val="F6EC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9202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61A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יותר מרבע מהקורפוס ה"גרמני" הוא בעצם טקסט אנגלי — פגם ספציפי במעלה הזרם, לא רעש אקראי.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379476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E3F1EC"/>
          </a:solidFill>
          <a:ln w="12700">
            <a:solidFill>
              <a:srgbClr val="E3F1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40233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B6F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Outages and Maintenance: 4.0% מהנפח, אבל 71.0% high priority.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0" y="4754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A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איוש לפי נפח היה מרעיב את התור הזה משמעותית.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Intelligence · BIU 8688697201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2B6F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עכשיו בלייב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הדגמה חיה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FD7B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GET /compare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023360" y="19202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D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אותה שאילתה, שלושה מצבי חיפוש בו-זמנית — ההבדל בין מילולי לסמנטי על מסך אחד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FD7B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POST /route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23360" y="28346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D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ניתוב כרטיס חדש שלא נראה קודם, בזמן אמת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FD7B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POST /ask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9D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שאלה בשפה טבעית, תשובה עם ציטוטים לכרטיסים אמיתיים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Intelligence · BIU 8688697201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2B6F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ביושר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61A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מה הפרויקט לא מתיימר להיות מושלם בו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6ECD9"/>
          </a:solidFill>
          <a:ln w="12700">
            <a:solidFill>
              <a:srgbClr val="F6EC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C6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הבדיקה הבין-לשונית לא עבדה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61A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12,249 כרטיסים גרמניים "מציפים" כל שאילתה גרמנית לפני שהיכולת הבין-לשונית מקבלת סיכוי. פגם בבדיקה, לא במודל — התיקון (סינון לפי שפה) כבר קיים ב-API.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6ECD9"/>
          </a:solidFill>
          <a:ln w="12700">
            <a:solidFill>
              <a:srgbClr val="F6EC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C6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מדד הרלוונטיות הוא החוליה החלשה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161A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תגיות משותפות מתגמלות דמיון נושאי, אבל יכולות להעניש-חסר פתרון שמנוסח אחרת מהבעיה. הערכה אנושית הייתה התיקון הכן.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Intelligence · BIU 8688697201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תודה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C9D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שאלות?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D7B3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Ticket Intelligence  ·  github.com/yaeldorin-glitch/biu-bigdata-support-tickets-1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 Intelligence</dc:title>
  <dc:subject>PptxGenJS Presentation</dc:subject>
  <dc:creator>Ticket Intelligence</dc:creator>
  <cp:lastModifiedBy>Ticket Intelligence</cp:lastModifiedBy>
  <cp:revision>1</cp:revision>
  <dcterms:created xsi:type="dcterms:W3CDTF">2026-08-17T11:43:38Z</dcterms:created>
  <dcterms:modified xsi:type="dcterms:W3CDTF">2026-08-17T11:43:38Z</dcterms:modified>
</cp:coreProperties>
</file>